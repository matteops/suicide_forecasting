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9"/>
    <p:restoredTop sz="94658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C59A-D86B-986C-8C0B-B98DF4696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60B5-DF09-054C-5C9F-E87267057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C7DF8-A91C-5BD5-6A0C-CD2C8461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A9A9B-B227-2707-9B5B-FEFFFE2F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B90DB-471A-4AFD-784E-0520A803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6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A41D-62C4-12A7-FAB2-7DF6826A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67295-104E-87C8-E416-93B3A6E8C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FCE39-A6CD-E862-2132-22BFD6D1F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9B364-1874-4939-EBD4-FE4A6C2E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C02A9-EA8A-6E40-90B5-A1D7229D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3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07D4-5A1C-A6FD-24E0-5EB1977D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1850B-E31B-826D-ED0D-385CF4D2C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BBF81-24DC-80DF-DCF8-26545EE7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E88AF-20D0-D7BB-0AAF-B687BB5D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96645-2260-7164-3C51-1A95BDA8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74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5E46-20C3-60FE-563E-38CA7BCB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9101-B8B7-58E8-8E6A-F74B8D0FD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2A88A-EDCF-19BD-85B9-81F28D1F6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0DF6C-BC48-34C3-AAB0-3DB355CA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70B10-5897-46E0-5AB3-B3B8BAB8F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3F405-A9BD-C3D2-4D41-42D47841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9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571A-7C68-6760-3503-CA871FE7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7F8B-B8E3-55E4-203B-4D50FD898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ACCCC-D26F-44FB-E2AC-17EE28264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21D0D9-D4E9-2186-96E3-5B371988F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48932-AA61-F1C0-F1FC-21BF697DF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5405C-E36F-E260-4E3D-204D305A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81042-D2DB-305E-1870-3B35B7EA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E3D1F-EAC7-F0DB-AC10-32E2DD0C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2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BA73-7852-9C70-EC4D-DD0FF8A0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C5BF5-278A-B19A-9BA4-1DA17A9D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CE344-4308-4A64-F439-33CDBAE4A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8F907-DE24-6C9F-B91E-B3A258C0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5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21F76-12A1-6A47-015C-F448E7AB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90104-76CF-02A6-9EC5-75992EEF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08228-400E-1E54-7996-A4DF95A8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6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FD6D-92B9-EF63-9A99-D1D7D1E0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B7D7-5718-ABED-3651-DCFEA0922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E8CBC-0930-4C00-BFEC-8EE35AEAA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EAE88-BE21-529A-03B0-2BB09B95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2A946-2EE1-3CEA-3A72-40D677CF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FF6A0-6E3E-430F-EDAC-AA18DA3C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41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2E4D-4A75-CF7F-04A4-3471D99C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850A8-13F9-B7B8-DB2B-7C1FC1689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0E7BC-435C-7286-9D2A-3BDF6349E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6D3AE-E598-75E7-51CF-F2DE44C64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C115E-F6E5-CAE8-3643-7A2C19DC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F81FE-B480-A10E-E709-EC6FA910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6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9C104-0151-6496-58CC-B3F7B4A2A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5A177-AC80-3F9A-87B9-148541E6F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BF714-9EB8-30BF-7F8E-23EEB8F7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07D8D-AC79-D313-9E07-33908D6B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AFCEB-D1A7-847A-7B5B-E8048C57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02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5EC83-9365-3106-7D2B-E4D6C2A52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B5E66-94E0-BD13-2427-5C32BC72B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11D5-AA47-D720-7A38-446E73F9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13A68-5A07-316B-868B-55039930C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761C1-07D2-2BF0-9912-AF788340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2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72AFA-5416-C11C-DF0D-748ED1C64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02C21-7B49-BB25-83EE-F14A5035F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8AAC4-B346-E327-F3B2-8125FF1CA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84F0A-1A69-AB47-8EAB-124C8004A96C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B981D-DEBD-43F1-E132-3529F3B76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8B252-9DF0-185B-306F-4A946436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FCBC1-B4BB-1645-916B-90353E398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E75946-BDD2-FEBC-8B44-062D23EEA6C0}"/>
              </a:ext>
            </a:extLst>
          </p:cNvPr>
          <p:cNvSpPr txBox="1"/>
          <p:nvPr/>
        </p:nvSpPr>
        <p:spPr>
          <a:xfrm>
            <a:off x="3047114" y="383623"/>
            <a:ext cx="60977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How Suicide Contagion Spreads</a:t>
            </a:r>
          </a:p>
          <a:p>
            <a:pPr algn="ctr"/>
            <a:r>
              <a:rPr lang="en-US" b="1" dirty="0"/>
              <a:t>Physical Distance vs. Community Proximity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191BE-6CDA-3D84-6EB8-2FB3B2435788}"/>
              </a:ext>
            </a:extLst>
          </p:cNvPr>
          <p:cNvSpPr txBox="1"/>
          <p:nvPr/>
        </p:nvSpPr>
        <p:spPr>
          <a:xfrm>
            <a:off x="568411" y="1443841"/>
            <a:ext cx="109480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Does elevated risk in nearby communities fade with physical distance (km) — or with how "close" a community is in a density-adjusted sense?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fades over </a:t>
            </a:r>
            <a:r>
              <a:rPr lang="en-US" b="1" dirty="0"/>
              <a:t>physical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fades over </a:t>
            </a:r>
            <a:r>
              <a:rPr lang="en-US" b="1" dirty="0"/>
              <a:t>number of neighboring communities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Chronic "hot regions" (e.g. Mountain West, Appalachia) -&gt; not event-driven clusters, high baseline</a:t>
            </a:r>
          </a:p>
          <a:p>
            <a:br>
              <a:rPr lang="en-US" dirty="0"/>
            </a:br>
            <a:r>
              <a:rPr lang="en-US" dirty="0"/>
              <a:t>“</a:t>
            </a:r>
            <a:r>
              <a:rPr lang="en-US" i="1" dirty="0"/>
              <a:t>a suicide event raise risk in nearby communities for a period of time.”</a:t>
            </a:r>
          </a:p>
          <a:p>
            <a:r>
              <a:rPr lang="en-US" dirty="0"/>
              <a:t>To study at smaller scale, we need to define what is </a:t>
            </a:r>
            <a:r>
              <a:rPr lang="en-US" b="1" dirty="0"/>
              <a:t>nearby</a:t>
            </a:r>
          </a:p>
        </p:txBody>
      </p:sp>
    </p:spTree>
    <p:extLst>
      <p:ext uri="{BB962C8B-B14F-4D97-AF65-F5344CB8AC3E}">
        <p14:creationId xmlns:p14="http://schemas.microsoft.com/office/powerpoint/2010/main" val="1873594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6A7A32-6E73-2B61-6BF4-90C4DD4B9E4F}"/>
              </a:ext>
            </a:extLst>
          </p:cNvPr>
          <p:cNvSpPr txBox="1"/>
          <p:nvPr/>
        </p:nvSpPr>
        <p:spPr>
          <a:xfrm>
            <a:off x="556054" y="531340"/>
            <a:ext cx="1108401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Relative Risk </a:t>
            </a:r>
            <a:endParaRPr lang="en-US" dirty="0"/>
          </a:p>
          <a:p>
            <a:r>
              <a:rPr lang="en-US" dirty="0"/>
              <a:t>national vs regional vs state vs baseline?</a:t>
            </a:r>
          </a:p>
          <a:p>
            <a:r>
              <a:rPr lang="en-US" dirty="0"/>
              <a:t>Relative Risk (RR) = observed / expected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sz="2400" b="1" dirty="0"/>
              <a:t>Decay curve</a:t>
            </a:r>
            <a:endParaRPr lang="en-US" b="1" dirty="0"/>
          </a:p>
          <a:p>
            <a:r>
              <a:rPr lang="en-US" dirty="0"/>
              <a:t>Plot RR against </a:t>
            </a:r>
            <a:r>
              <a:rPr lang="en-US" i="1" dirty="0"/>
              <a:t>Distance</a:t>
            </a:r>
            <a:br>
              <a:rPr lang="en-US" dirty="0"/>
            </a:br>
            <a:r>
              <a:rPr lang="en-US" dirty="0"/>
              <a:t>if closer high, then fades to 1 (decay curve) demonstrate contagion</a:t>
            </a:r>
          </a:p>
          <a:p>
            <a:endParaRPr lang="en-US" dirty="0"/>
          </a:p>
          <a:p>
            <a:r>
              <a:rPr lang="en-US" sz="2400" b="1" dirty="0"/>
              <a:t>Physical distance vs Rank distance</a:t>
            </a:r>
            <a:endParaRPr lang="en-US" sz="2000" b="1" dirty="0"/>
          </a:p>
          <a:p>
            <a:r>
              <a:rPr lang="en-US" dirty="0"/>
              <a:t>Km vs “number of ZIP away”</a:t>
            </a:r>
            <a:br>
              <a:rPr lang="en-US" dirty="0"/>
            </a:br>
            <a:r>
              <a:rPr lang="en-US" dirty="0"/>
              <a:t>natural adjustment for population size</a:t>
            </a:r>
          </a:p>
          <a:p>
            <a:endParaRPr lang="en-US" dirty="0"/>
          </a:p>
          <a:p>
            <a:r>
              <a:rPr lang="en-US" sz="2400" b="1" dirty="0"/>
              <a:t>Test</a:t>
            </a:r>
          </a:p>
          <a:p>
            <a:r>
              <a:rPr lang="en-US" dirty="0"/>
              <a:t>- </a:t>
            </a:r>
            <a:r>
              <a:rPr lang="en-US" b="1" dirty="0"/>
              <a:t>Split</a:t>
            </a:r>
            <a:r>
              <a:rPr lang="en-US" dirty="0"/>
              <a:t> by density (urban / suburb / small town / rural …)</a:t>
            </a:r>
          </a:p>
          <a:p>
            <a:r>
              <a:rPr lang="en-US" dirty="0"/>
              <a:t>- </a:t>
            </a:r>
            <a:r>
              <a:rPr lang="en-US" b="1" dirty="0"/>
              <a:t>Plot</a:t>
            </a:r>
            <a:r>
              <a:rPr lang="en-US" dirty="0"/>
              <a:t> decay curves by group (km vs rank)</a:t>
            </a:r>
          </a:p>
        </p:txBody>
      </p:sp>
    </p:spTree>
    <p:extLst>
      <p:ext uri="{BB962C8B-B14F-4D97-AF65-F5344CB8AC3E}">
        <p14:creationId xmlns:p14="http://schemas.microsoft.com/office/powerpoint/2010/main" val="3733173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E2012C-A17C-FF01-4425-A860EAC72BF8}"/>
              </a:ext>
            </a:extLst>
          </p:cNvPr>
          <p:cNvSpPr txBox="1"/>
          <p:nvPr/>
        </p:nvSpPr>
        <p:spPr>
          <a:xfrm>
            <a:off x="976183" y="475735"/>
            <a:ext cx="987304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Poisson GLM fit</a:t>
            </a:r>
          </a:p>
          <a:p>
            <a:endParaRPr lang="en-US" b="1" dirty="0"/>
          </a:p>
          <a:p>
            <a:r>
              <a:rPr lang="en-US" b="1" dirty="0"/>
              <a:t>Curve align in rank, not in  km:  </a:t>
            </a:r>
            <a:br>
              <a:rPr lang="en-US" b="1" dirty="0"/>
            </a:br>
            <a:r>
              <a:rPr lang="en-US" dirty="0"/>
              <a:t>Contagion scales with community density</a:t>
            </a:r>
            <a:br>
              <a:rPr lang="en-US" dirty="0"/>
            </a:br>
            <a:r>
              <a:rPr lang="en-US" dirty="0"/>
              <a:t>Same thing everywhere, just stretched out geographically in rural areas</a:t>
            </a:r>
          </a:p>
          <a:p>
            <a:endParaRPr lang="en-US" dirty="0"/>
          </a:p>
          <a:p>
            <a:r>
              <a:rPr lang="en-US" b="1" dirty="0"/>
              <a:t>Curves align in km-space, not rank-space:</a:t>
            </a:r>
          </a:p>
          <a:p>
            <a:r>
              <a:rPr lang="en-US" dirty="0"/>
              <a:t>Contagion scales with physical distance.</a:t>
            </a:r>
            <a:br>
              <a:rPr lang="en-US" dirty="0"/>
            </a:br>
            <a:r>
              <a:rPr lang="en-US" dirty="0"/>
              <a:t>Rural and Urban must be a different phenomenon</a:t>
            </a:r>
          </a:p>
          <a:p>
            <a:endParaRPr lang="en-US" dirty="0"/>
          </a:p>
          <a:p>
            <a:r>
              <a:rPr lang="en-US" b="1" dirty="0"/>
              <a:t>They are all different</a:t>
            </a:r>
            <a:br>
              <a:rPr lang="en-US" b="1" dirty="0"/>
            </a:br>
            <a:r>
              <a:rPr lang="en-US" dirty="0"/>
              <a:t>No pattern?</a:t>
            </a:r>
          </a:p>
        </p:txBody>
      </p:sp>
    </p:spTree>
    <p:extLst>
      <p:ext uri="{BB962C8B-B14F-4D97-AF65-F5344CB8AC3E}">
        <p14:creationId xmlns:p14="http://schemas.microsoft.com/office/powerpoint/2010/main" val="886603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76183" y="475735"/>
            <a:ext cx="98730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Example: RR decay curves, km vs. rank (</a:t>
            </a:r>
            <a:r>
              <a:rPr lang="en-US" sz="2400" b="1" dirty="0">
                <a:solidFill>
                  <a:srgbClr val="FF0000"/>
                </a:solidFill>
              </a:rPr>
              <a:t>mock data</a:t>
            </a:r>
            <a:r>
              <a:rPr lang="en-US" sz="2400" b="1" dirty="0"/>
              <a:t>)</a:t>
            </a:r>
          </a:p>
        </p:txBody>
      </p:sp>
      <p:pic>
        <p:nvPicPr>
          <p:cNvPr id="7" name="Decay curve m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00000"/>
            <a:ext cx="9601200" cy="431813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1295400" y="5720000"/>
            <a:ext cx="96012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dirty="0"/>
              <a:t>Same decay function in rank-space, scaled by density-dependent km spacing.</a:t>
            </a:r>
          </a:p>
        </p:txBody>
      </p:sp>
    </p:spTree>
    <p:extLst>
      <p:ext uri="{BB962C8B-B14F-4D97-AF65-F5344CB8AC3E}">
        <p14:creationId xmlns:p14="http://schemas.microsoft.com/office/powerpoint/2010/main" val="3866036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E623B5-D428-6006-229C-B86ADA41FFF2}"/>
              </a:ext>
            </a:extLst>
          </p:cNvPr>
          <p:cNvSpPr txBox="1"/>
          <p:nvPr/>
        </p:nvSpPr>
        <p:spPr>
          <a:xfrm>
            <a:off x="466466" y="586946"/>
            <a:ext cx="86404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SaTScan</a:t>
            </a:r>
            <a:r>
              <a:rPr lang="en-US" sz="2400" b="1" dirty="0"/>
              <a:t> censoring estimate</a:t>
            </a:r>
          </a:p>
          <a:p>
            <a:endParaRPr lang="en-US" sz="2400" dirty="0"/>
          </a:p>
          <a:p>
            <a:r>
              <a:rPr lang="en-US" sz="2400" dirty="0"/>
              <a:t>With x=</a:t>
            </a:r>
            <a:r>
              <a:rPr lang="en-US" sz="2400" dirty="0" err="1"/>
              <a:t>SaTScan</a:t>
            </a:r>
            <a:r>
              <a:rPr lang="en-US" sz="2400" dirty="0"/>
              <a:t> km threshold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what fraction of the curve's mass falls beyond whatever fixed radius used earlier in </a:t>
            </a:r>
            <a:r>
              <a:rPr lang="en-US" sz="2400" dirty="0" err="1"/>
              <a:t>SaTScan</a:t>
            </a:r>
            <a:r>
              <a:rPr lang="en-US" sz="2400" dirty="0"/>
              <a:t> (150km-250km)</a:t>
            </a:r>
          </a:p>
          <a:p>
            <a:endParaRPr lang="en-US" sz="2400" b="1" dirty="0"/>
          </a:p>
          <a:p>
            <a:endParaRPr lang="en-US" sz="2400" dirty="0"/>
          </a:p>
        </p:txBody>
      </p:sp>
      <p:pic>
        <p:nvPicPr>
          <p:cNvPr id="2" name="Decay curve mockup">
            <a:extLst>
              <a:ext uri="{FF2B5EF4-FFF2-40B4-BE49-F238E27FC236}">
                <a16:creationId xmlns:a16="http://schemas.microsoft.com/office/drawing/2014/main" id="{CF519B44-5DB9-BCF3-FC4A-82EC9FFD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1" t="20426" r="49118" b="-9075"/>
          <a:stretch>
            <a:fillRect/>
          </a:stretch>
        </p:blipFill>
        <p:spPr>
          <a:xfrm>
            <a:off x="6569243" y="3429000"/>
            <a:ext cx="3953614" cy="308879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377FAD-D92E-58F5-85A8-40343354D2A3}"/>
              </a:ext>
            </a:extLst>
          </p:cNvPr>
          <p:cNvCxnSpPr/>
          <p:nvPr/>
        </p:nvCxnSpPr>
        <p:spPr>
          <a:xfrm flipV="1">
            <a:off x="9262334" y="3633934"/>
            <a:ext cx="0" cy="2175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768E2BA-E303-1442-DEF3-98CA5E0CAEBC}"/>
              </a:ext>
            </a:extLst>
          </p:cNvPr>
          <p:cNvSpPr txBox="1"/>
          <p:nvPr/>
        </p:nvSpPr>
        <p:spPr>
          <a:xfrm>
            <a:off x="8546050" y="3290500"/>
            <a:ext cx="16934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SaTScan</a:t>
            </a:r>
            <a:r>
              <a:rPr lang="en-US" sz="1200" dirty="0"/>
              <a:t> threshold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B86D31-A0FB-DD60-BF7F-421C08B3EEAD}"/>
              </a:ext>
            </a:extLst>
          </p:cNvPr>
          <p:cNvCxnSpPr>
            <a:cxnSpLocks/>
          </p:cNvCxnSpPr>
          <p:nvPr/>
        </p:nvCxnSpPr>
        <p:spPr>
          <a:xfrm flipH="1">
            <a:off x="9666685" y="5142156"/>
            <a:ext cx="150607" cy="344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0F04C4-C863-BCA6-9DD1-9E33D962BF82}"/>
              </a:ext>
            </a:extLst>
          </p:cNvPr>
          <p:cNvSpPr txBox="1"/>
          <p:nvPr/>
        </p:nvSpPr>
        <p:spPr>
          <a:xfrm>
            <a:off x="9459686" y="4680491"/>
            <a:ext cx="169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Censored in </a:t>
            </a:r>
            <a:r>
              <a:rPr lang="en-US" sz="1200" dirty="0" err="1"/>
              <a:t>SaTScan</a:t>
            </a:r>
            <a:r>
              <a:rPr lang="en-US" sz="1200" dirty="0"/>
              <a:t> by threshold </a:t>
            </a:r>
          </a:p>
        </p:txBody>
      </p:sp>
    </p:spTree>
    <p:extLst>
      <p:ext uri="{BB962C8B-B14F-4D97-AF65-F5344CB8AC3E}">
        <p14:creationId xmlns:p14="http://schemas.microsoft.com/office/powerpoint/2010/main" val="3866036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309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Perini</dc:creator>
  <cp:lastModifiedBy>Matteo Perini</cp:lastModifiedBy>
  <cp:revision>3</cp:revision>
  <dcterms:created xsi:type="dcterms:W3CDTF">2026-07-22T15:43:57Z</dcterms:created>
  <dcterms:modified xsi:type="dcterms:W3CDTF">2026-07-27T20:57:51Z</dcterms:modified>
</cp:coreProperties>
</file>