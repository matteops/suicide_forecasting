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2" d="100"/>
          <a:sy n="102" d="100"/>
        </p:scale>
        <p:origin x="208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E8146-A034-FE3F-B778-3B059AC75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FA26D5-A999-6341-AD29-1A3E7B0C7E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BF437-E1A6-714C-7386-406BB2B94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C3C7-8DF1-1745-8141-71448EB4937F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7AFC5-575E-8203-A39A-D734D08B6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98B4A-A83A-452C-6A77-4F5BD0AEF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BFDD0-082B-6C4D-B52B-E6D129E4D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636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36657-F588-2639-9242-E6D22C8F8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E3DD7-429E-41C7-BB29-E34BF04AD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7E059-FE53-CA3E-E961-50C456A8A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C3C7-8DF1-1745-8141-71448EB4937F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C30C1-3C55-285B-66AA-4E01E2E6B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2105D-1AB0-CB9C-2787-66DAF7309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BFDD0-082B-6C4D-B52B-E6D129E4D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082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EACA3-0F47-2A99-E13A-0AB6F7CD0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E6A3E9-28E1-6F01-4B65-D0F158CDC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7CAFB-B0DB-7914-F3A6-2465FF611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C3C7-8DF1-1745-8141-71448EB4937F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77B94-C36B-379C-1FBC-61750EE31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C9FBD-6E70-43FE-D322-0C4FF984B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BFDD0-082B-6C4D-B52B-E6D129E4D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592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E9394-4BD1-FE5F-42AF-5B693C868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73A33-725C-88F6-DBAB-D235A5DD6C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C8C64E-3CA6-4DD7-EE38-976BC0392B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C3D4AE-6774-FFED-3501-997E5A548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C3C7-8DF1-1745-8141-71448EB4937F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7C79DA-CC6D-92A2-076E-823259C6C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AF15A-C962-BC84-F76D-662653E4F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BFDD0-082B-6C4D-B52B-E6D129E4D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109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5FA97-8D8A-FDD1-9C24-44E58497D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F72E1-9E1E-7D1D-4900-98C80450C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29269-EEE1-55E4-1B03-2E35F5569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1DF9D5-77F1-A147-E8F3-8E1AD3EFF1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6D89EC-3833-DBBC-FAE2-BDF5E526F6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165FE8-836D-8B2B-73B8-8BA2B01F0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C3C7-8DF1-1745-8141-71448EB4937F}" type="datetimeFigureOut">
              <a:rPr lang="en-US" smtClean="0"/>
              <a:t>7/24/26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3CD85A-2178-A9B3-CA37-47A21A879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F82C41-9D3E-11CA-4554-A08F246E9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BFDD0-082B-6C4D-B52B-E6D129E4D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490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7542E-63D0-B6AC-DF6B-89F2CC7FD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DAE909-0030-6943-E1B1-C47AEC03B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C3C7-8DF1-1745-8141-71448EB4937F}" type="datetimeFigureOut">
              <a:rPr lang="en-US" smtClean="0"/>
              <a:t>7/24/26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F1D2DA-6850-4FEF-0F21-5506E5188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002651-B919-C50E-2C15-928D40B0F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BFDD0-082B-6C4D-B52B-E6D129E4D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414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9B695E-E0F9-1F2B-6105-54E6AA4CC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C3C7-8DF1-1745-8141-71448EB4937F}" type="datetimeFigureOut">
              <a:rPr lang="en-US" smtClean="0"/>
              <a:t>7/24/26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415ECF-14E8-566C-49D1-D5603E702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1A3989-54B2-F2EC-7076-7441D30EA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BFDD0-082B-6C4D-B52B-E6D129E4D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249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9EC3D-7745-03D0-B02D-DBC0B93A3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319A7-154E-A44B-E0C0-1B8142E15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D4E371-4249-16CF-86EA-5447BCA0EA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7C91D-612F-BDF4-B15F-B6D455AF0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C3C7-8DF1-1745-8141-71448EB4937F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680033-2ABA-EA85-32EC-26FD97D58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D71CE4-079E-88B9-9A2C-D8F6DCA71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BFDD0-082B-6C4D-B52B-E6D129E4D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195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33A6C-D592-863D-1483-04BB7641E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ABBC6E-D9B3-929B-D55A-3E46EC76A5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A2E07C-290D-D9D5-84E3-5C415480F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FF911-BDE8-3C23-4ED4-9C914F674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C3C7-8DF1-1745-8141-71448EB4937F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53F8EC-AC61-9623-4B73-A95428E25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18F70-D4C9-94E6-6FDC-7AD04FAF1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BFDD0-082B-6C4D-B52B-E6D129E4D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08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F6750-4353-E519-CAE6-D11A02EEC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EB9CC3-1457-93C3-D374-40BB903E5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2003E-3F79-21AD-0DB0-D44AA3DAB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C3C7-8DF1-1745-8141-71448EB4937F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4DAA6-7585-CD67-F496-ACAFD924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E1F86-2E47-AB5B-0DE1-53F923AAD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BFDD0-082B-6C4D-B52B-E6D129E4D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957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135753-FB57-D447-E593-3173D358E3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BA4A3E-DCF0-20CF-6C17-0818C39212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86297-A8F9-2D2F-DB36-33A79E52B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C3C7-8DF1-1745-8141-71448EB4937F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0839E-0DAF-8ED0-BB11-6E906B27A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5FBCD-DCF9-932E-819F-B1DDA1CB5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BFDD0-082B-6C4D-B52B-E6D129E4D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036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766D24-7805-E289-31C3-E51A41551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3DF73F-11A0-6889-5016-76A480670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6A3E2-A205-62C9-06DF-EFFD0B62F1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72C3C7-8DF1-1745-8141-71448EB4937F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CDB59-CDE5-571D-6E13-31E67A28DF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97FEB-FD8D-4A2D-2AB7-D6AC8B219D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2BFDD0-082B-6C4D-B52B-E6D129E4D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486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186/s13034-024-00745-9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15380BA-7B04-3C2A-754C-F1C15F6DE771}"/>
              </a:ext>
            </a:extLst>
          </p:cNvPr>
          <p:cNvSpPr txBox="1"/>
          <p:nvPr/>
        </p:nvSpPr>
        <p:spPr>
          <a:xfrm>
            <a:off x="2761807" y="678252"/>
            <a:ext cx="60977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ST-DBSCAN</a:t>
            </a:r>
          </a:p>
          <a:p>
            <a:pPr algn="ctr"/>
            <a:r>
              <a:rPr lang="en-US" sz="2400" dirty="0"/>
              <a:t>Spatiotemporal Density-Based Spatial Clustering of Applications with Noise</a:t>
            </a:r>
            <a:endParaRPr 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F4AA62-4C4E-F989-1684-D3733CF017E4}"/>
              </a:ext>
            </a:extLst>
          </p:cNvPr>
          <p:cNvSpPr txBox="1"/>
          <p:nvPr/>
        </p:nvSpPr>
        <p:spPr>
          <a:xfrm>
            <a:off x="919286" y="2230651"/>
            <a:ext cx="10948086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Density-based clustering</a:t>
            </a:r>
            <a:br>
              <a:rPr lang="en-US" dirty="0"/>
            </a:br>
            <a:r>
              <a:rPr lang="en-US" dirty="0"/>
              <a:t>unsupervised ML</a:t>
            </a:r>
          </a:p>
          <a:p>
            <a:r>
              <a:rPr lang="en-US" sz="1200" dirty="0">
                <a:effectLst/>
              </a:rPr>
              <a:t>Choi, WS., Roh, BR., Jon, DI. et al. An exploratory study on spatiotemporal clustering of suicide in Korean adolescents. Child </a:t>
            </a:r>
            <a:r>
              <a:rPr lang="en-US" sz="1200" dirty="0" err="1">
                <a:effectLst/>
              </a:rPr>
              <a:t>Adolesc</a:t>
            </a:r>
            <a:r>
              <a:rPr lang="en-US" sz="1200" dirty="0">
                <a:effectLst/>
              </a:rPr>
              <a:t> Psychiatry Ment Health 18, 54 (2024). </a:t>
            </a:r>
            <a:r>
              <a:rPr lang="en-US" sz="1200" dirty="0">
                <a:effectLst/>
                <a:hlinkClick r:id="rId2"/>
              </a:rPr>
              <a:t>https://doi.org/10.1186/s13034-024-00745-9</a:t>
            </a:r>
            <a:endParaRPr lang="en-US" sz="1200" b="1" dirty="0"/>
          </a:p>
          <a:p>
            <a:pPr lvl="0"/>
            <a:r>
              <a:rPr lang="en-US" dirty="0"/>
              <a:t>It groups data densely packed data points in space-time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arbitrary shapes, no fixed number of clusters , filter out isolated outliers as "noise."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9D49D37-7AF7-DD3E-24C8-A6FE532EF3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2713917"/>
              </p:ext>
            </p:extLst>
          </p:nvPr>
        </p:nvGraphicFramePr>
        <p:xfrm>
          <a:off x="1326292" y="4110316"/>
          <a:ext cx="9539415" cy="199277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29289">
                  <a:extLst>
                    <a:ext uri="{9D8B030D-6E8A-4147-A177-3AD203B41FA5}">
                      <a16:colId xmlns:a16="http://schemas.microsoft.com/office/drawing/2014/main" val="3734712920"/>
                    </a:ext>
                  </a:extLst>
                </a:gridCol>
                <a:gridCol w="2711303">
                  <a:extLst>
                    <a:ext uri="{9D8B030D-6E8A-4147-A177-3AD203B41FA5}">
                      <a16:colId xmlns:a16="http://schemas.microsoft.com/office/drawing/2014/main" val="3664523461"/>
                    </a:ext>
                  </a:extLst>
                </a:gridCol>
                <a:gridCol w="4698823">
                  <a:extLst>
                    <a:ext uri="{9D8B030D-6E8A-4147-A177-3AD203B41FA5}">
                      <a16:colId xmlns:a16="http://schemas.microsoft.com/office/drawing/2014/main" val="2903297255"/>
                    </a:ext>
                  </a:extLst>
                </a:gridCol>
              </a:tblGrid>
              <a:tr h="28468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4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b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 dirty="0">
                          <a:effectLst/>
                        </a:rPr>
                        <a:t>DBSCAN</a:t>
                      </a:r>
                      <a:endParaRPr lang="en-US" sz="1400" b="1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b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 dirty="0" err="1">
                          <a:effectLst/>
                        </a:rPr>
                        <a:t>SaTScan</a:t>
                      </a:r>
                      <a:endParaRPr lang="en-US" sz="1400" b="1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b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8073478"/>
                  </a:ext>
                </a:extLst>
              </a:tr>
              <a:tr h="28468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4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Density-based machine learning</a:t>
                      </a:r>
                      <a:endParaRPr lang="en-US" sz="14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Spatial scan statistics</a:t>
                      </a:r>
                      <a:endParaRPr lang="en-US" sz="14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19050" marB="190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7426654"/>
                  </a:ext>
                </a:extLst>
              </a:tr>
              <a:tr h="28468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Shape</a:t>
                      </a:r>
                      <a:endParaRPr lang="en-US" sz="14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Arbitrary / Irregular</a:t>
                      </a:r>
                      <a:endParaRPr lang="en-US" sz="14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>
                          <a:effectLst/>
                        </a:rPr>
                        <a:t>Rigid (Circular / Cylindrical)</a:t>
                      </a:r>
                      <a:endParaRPr lang="en-US" sz="14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691718"/>
                  </a:ext>
                </a:extLst>
              </a:tr>
              <a:tr h="28468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Statistical Significance</a:t>
                      </a:r>
                      <a:endParaRPr lang="en-US" sz="14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No (no p-values)</a:t>
                      </a:r>
                      <a:endParaRPr lang="en-US" sz="14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Yes (Monte Carlo hypothesis testing)</a:t>
                      </a:r>
                      <a:endParaRPr lang="en-US" sz="14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2984823"/>
                  </a:ext>
                </a:extLst>
              </a:tr>
              <a:tr h="28468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Noise Handling</a:t>
                      </a:r>
                      <a:endParaRPr lang="en-US" sz="14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Isolates points as explicit noise</a:t>
                      </a:r>
                      <a:endParaRPr lang="en-US" sz="14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Absorbs non-cluster data into background</a:t>
                      </a:r>
                      <a:endParaRPr lang="en-US" sz="14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2907267"/>
                  </a:ext>
                </a:extLst>
              </a:tr>
              <a:tr h="28468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Hyperparameters</a:t>
                      </a:r>
                      <a:endParaRPr lang="en-US" sz="14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Search radius (ϵ), Min points</a:t>
                      </a:r>
                      <a:endParaRPr lang="en-US" sz="14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Max window size, Population at risk…</a:t>
                      </a:r>
                      <a:endParaRPr lang="en-US" sz="14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8828422"/>
                  </a:ext>
                </a:extLst>
              </a:tr>
              <a:tr h="28468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Primary Domain</a:t>
                      </a:r>
                      <a:endParaRPr lang="en-US" sz="14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General anomaly detection</a:t>
                      </a:r>
                      <a:endParaRPr lang="en-US" sz="14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Epidemiology and disease surveillance</a:t>
                      </a:r>
                      <a:endParaRPr lang="en-US" sz="14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63320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7191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16C36E-C510-3850-09A6-A4220C93094D}"/>
              </a:ext>
            </a:extLst>
          </p:cNvPr>
          <p:cNvSpPr txBox="1"/>
          <p:nvPr/>
        </p:nvSpPr>
        <p:spPr>
          <a:xfrm>
            <a:off x="669852" y="1443841"/>
            <a:ext cx="9501384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Compute special distance Matrix </a:t>
            </a:r>
            <a:br>
              <a:rPr lang="en-US" b="1" dirty="0"/>
            </a:br>
            <a:r>
              <a:rPr lang="en-US" dirty="0"/>
              <a:t>pairwise distance matrix of cases with haversine distance distances 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Compute temporal distance Matrix</a:t>
            </a:r>
          </a:p>
          <a:p>
            <a:r>
              <a:rPr lang="en-US"/>
              <a:t>pairwise distance matrix of time </a:t>
            </a:r>
            <a:r>
              <a:rPr lang="en-US" dirty="0"/>
              <a:t>intervals between cases</a:t>
            </a:r>
          </a:p>
          <a:p>
            <a:pPr lvl="0"/>
            <a:br>
              <a:rPr lang="en-US" b="1" dirty="0"/>
            </a:br>
            <a:r>
              <a:rPr lang="en-US" b="1" dirty="0"/>
              <a:t>Convert time penalty in distance penalty: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If temporal interval &gt; temporal threshold, spatial distance = 99999.0 </a:t>
            </a:r>
          </a:p>
          <a:p>
            <a:pPr lvl="0"/>
            <a:br>
              <a:rPr lang="en-US" b="1" dirty="0"/>
            </a:br>
            <a:r>
              <a:rPr lang="en-US" b="1" dirty="0"/>
              <a:t>Run Standard DBSCAN</a:t>
            </a:r>
            <a:br>
              <a:rPr lang="en-US" b="1" dirty="0"/>
            </a:br>
            <a:r>
              <a:rPr lang="en-US" dirty="0"/>
              <a:t>metric='precomputed’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Points separated by too much time now exceed the spatial threshold and are naturally ignored.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633AF6-A9AC-0999-6434-00DF7968601C}"/>
              </a:ext>
            </a:extLst>
          </p:cNvPr>
          <p:cNvSpPr txBox="1"/>
          <p:nvPr/>
        </p:nvSpPr>
        <p:spPr>
          <a:xfrm>
            <a:off x="2371658" y="699518"/>
            <a:ext cx="60977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From DBSCAN to ST-DBSCAN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224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AAC2DB-8382-55A2-27AC-35D46F0F3D6A}"/>
              </a:ext>
            </a:extLst>
          </p:cNvPr>
          <p:cNvSpPr txBox="1"/>
          <p:nvPr/>
        </p:nvSpPr>
        <p:spPr>
          <a:xfrm>
            <a:off x="1477926" y="914400"/>
            <a:ext cx="7735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ST-DBSCAN relies on absolute </a:t>
            </a:r>
            <a:r>
              <a:rPr lang="en-US" b="1" dirty="0"/>
              <a:t>point density</a:t>
            </a:r>
            <a:r>
              <a:rPr lang="en-US" dirty="0"/>
              <a:t> -&gt; would only flags </a:t>
            </a:r>
            <a:r>
              <a:rPr lang="en-US" b="1" dirty="0"/>
              <a:t>urban areas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EAC1AE-6E67-1C01-DC48-C9532AA8A8F8}"/>
              </a:ext>
            </a:extLst>
          </p:cNvPr>
          <p:cNvSpPr txBox="1"/>
          <p:nvPr/>
        </p:nvSpPr>
        <p:spPr>
          <a:xfrm>
            <a:off x="1679944" y="1913860"/>
            <a:ext cx="442794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Calculate ZIP incidence rate</a:t>
            </a:r>
          </a:p>
          <a:p>
            <a:pPr marL="342900" indent="-342900">
              <a:buAutoNum type="arabicPeriod"/>
            </a:pPr>
            <a:r>
              <a:rPr lang="en-US" dirty="0"/>
              <a:t>Zip Relative Risk</a:t>
            </a:r>
          </a:p>
          <a:p>
            <a:pPr marL="342900" indent="-342900">
              <a:buAutoNum type="arabicPeriod"/>
            </a:pPr>
            <a:r>
              <a:rPr lang="en-US" dirty="0"/>
              <a:t>Drop ZIP below a threshold (?)</a:t>
            </a:r>
          </a:p>
          <a:p>
            <a:pPr marL="342900" indent="-342900">
              <a:buAutoNum type="arabicPeriod"/>
            </a:pPr>
            <a:r>
              <a:rPr lang="en-US" dirty="0"/>
              <a:t>Build </a:t>
            </a:r>
            <a:r>
              <a:rPr lang="en-US" b="1" i="1" dirty="0"/>
              <a:t>N x N</a:t>
            </a:r>
            <a:r>
              <a:rPr lang="en-US" dirty="0"/>
              <a:t> matrix with “Rank distance”</a:t>
            </a:r>
          </a:p>
          <a:p>
            <a:pPr marL="342900" indent="-342900">
              <a:buAutoNum type="arabicPeriod"/>
            </a:pPr>
            <a:r>
              <a:rPr lang="en-US" dirty="0"/>
              <a:t>Run ST-DBSCAN on rate/rank distance</a:t>
            </a:r>
          </a:p>
        </p:txBody>
      </p:sp>
    </p:spTree>
    <p:extLst>
      <p:ext uri="{BB962C8B-B14F-4D97-AF65-F5344CB8AC3E}">
        <p14:creationId xmlns:p14="http://schemas.microsoft.com/office/powerpoint/2010/main" val="3276575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885</TotalTime>
  <Words>276</Words>
  <Application>Microsoft Macintosh PowerPoint</Application>
  <PresentationFormat>Widescreen</PresentationFormat>
  <Paragraphs>38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Matteo Perini</dc:creator>
  <cp:lastModifiedBy>Matteo Perini</cp:lastModifiedBy>
  <cp:revision>3</cp:revision>
  <dcterms:created xsi:type="dcterms:W3CDTF">2026-07-22T18:39:33Z</dcterms:created>
  <dcterms:modified xsi:type="dcterms:W3CDTF">2026-07-25T05:12:42Z</dcterms:modified>
</cp:coreProperties>
</file>