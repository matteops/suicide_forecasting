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617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2C59A-D86B-986C-8C0B-B98DF4696D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4C60B5-DF09-054C-5C9F-E872670574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2C7DF8-A91C-5BD5-6A0C-CD2C84610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84F0A-1A69-AB47-8EAB-124C8004A96C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0A9A9B-B227-2707-9B5B-FEFFFE2F5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8B90DB-471A-4AFD-784E-0520A803C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FCBC1-B4BB-1645-916B-90353E398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8652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7A41D-62C4-12A7-FAB2-7DF6826A1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67295-104E-87C8-E416-93B3A6E8C6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9FCE39-A6CD-E862-2132-22BFD6D1F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84F0A-1A69-AB47-8EAB-124C8004A96C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89B364-1874-4939-EBD4-FE4A6C2EC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9C02A9-EA8A-6E40-90B5-A1D7229D0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FCBC1-B4BB-1645-916B-90353E398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1305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207D4-5A1C-A6FD-24E0-5EB1977DB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51850B-E31B-826D-ED0D-385CF4D2C0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1BBF81-24DC-80DF-DCF8-26545EE78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84F0A-1A69-AB47-8EAB-124C8004A96C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0E88AF-20D0-D7BB-0AAF-B687BB5D2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496645-2260-7164-3C51-1A95BDA8F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FCBC1-B4BB-1645-916B-90353E398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174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F5E46-20C3-60FE-563E-38CA7BCB5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C29101-B8B7-58E8-8E6A-F74B8D0FD6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F2A88A-EDCF-19BD-85B9-81F28D1F6A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60DF6C-BC48-34C3-AAB0-3DB355CA3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84F0A-1A69-AB47-8EAB-124C8004A96C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A70B10-5897-46E0-5AB3-B3B8BAB8F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53F405-A9BD-C3D2-4D41-42D47841D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FCBC1-B4BB-1645-916B-90353E398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890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3571A-7C68-6760-3503-CA871FE7D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C47F8B-B8E3-55E4-203B-4D50FD8986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4ACCCC-D26F-44FB-E2AC-17EE282641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821D0D9-D4E9-2186-96E3-5B371988FF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2148932-AA61-F1C0-F1FC-21BF697DF4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B65405C-E36F-E260-4E3D-204D305A9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84F0A-1A69-AB47-8EAB-124C8004A96C}" type="datetimeFigureOut">
              <a:rPr lang="en-US" smtClean="0"/>
              <a:t>7/22/26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0581042-D2DB-305E-1870-3B35B7EAF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8DE3D1F-EAC7-F0DB-AC10-32E2DD0CE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FCBC1-B4BB-1645-916B-90353E398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427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3BA73-7852-9C70-EC4D-DD0FF8A0E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BC5BF5-278A-B19A-9BA4-1DA17A9D8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84F0A-1A69-AB47-8EAB-124C8004A96C}" type="datetimeFigureOut">
              <a:rPr lang="en-US" smtClean="0"/>
              <a:t>7/22/26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2CE344-4308-4A64-F439-33CDBAE4A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48F907-DE24-6C9F-B91E-B3A258C0A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FCBC1-B4BB-1645-916B-90353E398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7533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C21F76-12A1-6A47-015C-F448E7AB8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84F0A-1A69-AB47-8EAB-124C8004A96C}" type="datetimeFigureOut">
              <a:rPr lang="en-US" smtClean="0"/>
              <a:t>7/22/26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190104-76CF-02A6-9EC5-75992EEF6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D08228-400E-1E54-7996-A4DF95A80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FCBC1-B4BB-1645-916B-90353E398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5638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8FD6D-92B9-EF63-9A99-D1D7D1E0C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BB7D7-5718-ABED-3651-DCFEA0922B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7E8CBC-0930-4C00-BFEC-8EE35AEAA8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7EAE88-BE21-529A-03B0-2BB09B95C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84F0A-1A69-AB47-8EAB-124C8004A96C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A2A946-2EE1-3CEA-3A72-40D677CF8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6FF6A0-6E3E-430F-EDAC-AA18DA3CC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FCBC1-B4BB-1645-916B-90353E398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8414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62E4D-4A75-CF7F-04A4-3471D99C21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D850A8-13F9-B7B8-DB2B-7C1FC1689E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D0E7BC-435C-7286-9D2A-3BDF6349EB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6D3AE-E598-75E7-51CF-F2DE44C64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84F0A-1A69-AB47-8EAB-124C8004A96C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EC115E-F6E5-CAE8-3643-7A2C19DC8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3F81FE-B480-A10E-E709-EC6FA9106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FCBC1-B4BB-1645-916B-90353E398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361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9C104-0151-6496-58CC-B3F7B4A2A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15A177-AC80-3F9A-87B9-148541E6FD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6BF714-9EB8-30BF-7F8E-23EEB8F74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84F0A-1A69-AB47-8EAB-124C8004A96C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E07D8D-AC79-D313-9E07-33908D6B2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0AFCEB-D1A7-847A-7B5B-E8048C57A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FCBC1-B4BB-1645-916B-90353E398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5024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25EC83-9365-3106-7D2B-E4D6C2A529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BB5E66-94E0-BD13-2427-5C32BC72BF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6711D5-AA47-D720-7A38-446E73F90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84F0A-1A69-AB47-8EAB-124C8004A96C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713A68-5A07-316B-868B-55039930C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C761C1-07D2-2BF0-9912-AF7883405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4FCBC1-B4BB-1645-916B-90353E398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8278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272AFA-5416-C11C-DF0D-748ED1C64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102C21-7B49-BB25-83EE-F14A5035F8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48AAC4-B346-E327-F3B2-8125FF1CA0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E84F0A-1A69-AB47-8EAB-124C8004A96C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2B981D-DEBD-43F1-E132-3529F3B762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A8B252-9DF0-185B-306F-4A94643693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4FCBC1-B4BB-1645-916B-90353E398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8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FE75946-BDD2-FEBC-8B44-062D23EEA6C0}"/>
              </a:ext>
            </a:extLst>
          </p:cNvPr>
          <p:cNvSpPr txBox="1"/>
          <p:nvPr/>
        </p:nvSpPr>
        <p:spPr>
          <a:xfrm>
            <a:off x="3047114" y="383623"/>
            <a:ext cx="609777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How Suicide Contagion Spreads</a:t>
            </a:r>
          </a:p>
          <a:p>
            <a:pPr algn="ctr"/>
            <a:r>
              <a:rPr lang="en-US" b="1" dirty="0"/>
              <a:t>Physical Distance vs. Community Proximity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B191BE-6CDA-3D84-6EB8-2FB3B2435788}"/>
              </a:ext>
            </a:extLst>
          </p:cNvPr>
          <p:cNvSpPr txBox="1"/>
          <p:nvPr/>
        </p:nvSpPr>
        <p:spPr>
          <a:xfrm>
            <a:off x="568411" y="1443841"/>
            <a:ext cx="1094808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/>
              <a:t>Does elevated risk in nearby communities fade with physical distance (km) — or with how "close" a community is in a density-adjusted sense?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Risk fades over </a:t>
            </a:r>
            <a:r>
              <a:rPr lang="en-US" b="1" dirty="0"/>
              <a:t>physical distance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Risk fades over </a:t>
            </a:r>
            <a:r>
              <a:rPr lang="en-US" b="1" dirty="0"/>
              <a:t>number of neighboring communities</a:t>
            </a:r>
            <a:endParaRPr lang="en-US" dirty="0"/>
          </a:p>
          <a:p>
            <a:endParaRPr lang="en-US" dirty="0"/>
          </a:p>
          <a:p>
            <a:r>
              <a:rPr lang="en-US" dirty="0"/>
              <a:t>Chronic "hot regions" (e.g. Mountain West, Appalachia) -&gt; not event-driven clusters, high baseline</a:t>
            </a:r>
          </a:p>
          <a:p>
            <a:br>
              <a:rPr lang="en-US" dirty="0"/>
            </a:br>
            <a:r>
              <a:rPr lang="en-US" dirty="0"/>
              <a:t>“</a:t>
            </a:r>
            <a:r>
              <a:rPr lang="en-US" i="1" dirty="0"/>
              <a:t>a suicide event raise risk in nearby communities for a period of time.”</a:t>
            </a:r>
          </a:p>
          <a:p>
            <a:r>
              <a:rPr lang="en-US" dirty="0"/>
              <a:t>To study at smaller scale, we need to define what is </a:t>
            </a:r>
            <a:r>
              <a:rPr lang="en-US" b="1" dirty="0"/>
              <a:t>nearby</a:t>
            </a:r>
          </a:p>
        </p:txBody>
      </p:sp>
    </p:spTree>
    <p:extLst>
      <p:ext uri="{BB962C8B-B14F-4D97-AF65-F5344CB8AC3E}">
        <p14:creationId xmlns:p14="http://schemas.microsoft.com/office/powerpoint/2010/main" val="18735948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26A7A32-6E73-2B61-6BF4-90C4DD4B9E4F}"/>
              </a:ext>
            </a:extLst>
          </p:cNvPr>
          <p:cNvSpPr txBox="1"/>
          <p:nvPr/>
        </p:nvSpPr>
        <p:spPr>
          <a:xfrm>
            <a:off x="556054" y="531340"/>
            <a:ext cx="11084011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Relative Risk </a:t>
            </a:r>
            <a:endParaRPr lang="en-US" dirty="0"/>
          </a:p>
          <a:p>
            <a:r>
              <a:rPr lang="en-US" dirty="0"/>
              <a:t>national vs regional vs state vs baseline?</a:t>
            </a:r>
          </a:p>
          <a:p>
            <a:r>
              <a:rPr lang="en-US" dirty="0"/>
              <a:t>Relative Risk (RR) = observed / expected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r>
              <a:rPr lang="en-US" sz="2400" b="1" dirty="0"/>
              <a:t>Decay curve</a:t>
            </a:r>
            <a:endParaRPr lang="en-US" b="1" dirty="0"/>
          </a:p>
          <a:p>
            <a:r>
              <a:rPr lang="en-US" dirty="0"/>
              <a:t>Plot RR against </a:t>
            </a:r>
            <a:r>
              <a:rPr lang="en-US" i="1" dirty="0"/>
              <a:t>Distance</a:t>
            </a:r>
            <a:br>
              <a:rPr lang="en-US" dirty="0"/>
            </a:br>
            <a:r>
              <a:rPr lang="en-US" dirty="0"/>
              <a:t>if closer high, then fades to 1 (decay curve) demonstrate contagion</a:t>
            </a:r>
          </a:p>
          <a:p>
            <a:endParaRPr lang="en-US" dirty="0"/>
          </a:p>
          <a:p>
            <a:r>
              <a:rPr lang="en-US" sz="2400" b="1" dirty="0"/>
              <a:t>Physical distance vs Rank distance</a:t>
            </a:r>
            <a:endParaRPr lang="en-US" sz="2000" b="1" dirty="0"/>
          </a:p>
          <a:p>
            <a:r>
              <a:rPr lang="en-US" dirty="0"/>
              <a:t>Km vs “number of ZIP away”</a:t>
            </a:r>
            <a:br>
              <a:rPr lang="en-US" dirty="0"/>
            </a:br>
            <a:r>
              <a:rPr lang="en-US" dirty="0"/>
              <a:t>natural adjustment for population size</a:t>
            </a:r>
          </a:p>
          <a:p>
            <a:endParaRPr lang="en-US" dirty="0"/>
          </a:p>
          <a:p>
            <a:r>
              <a:rPr lang="en-US" sz="2400" b="1" dirty="0"/>
              <a:t>Test</a:t>
            </a:r>
          </a:p>
          <a:p>
            <a:r>
              <a:rPr lang="en-US" dirty="0"/>
              <a:t>- </a:t>
            </a:r>
            <a:r>
              <a:rPr lang="en-US" b="1" dirty="0"/>
              <a:t>Split</a:t>
            </a:r>
            <a:r>
              <a:rPr lang="en-US" dirty="0"/>
              <a:t> by density (urban / suburb / small town / rural …)</a:t>
            </a:r>
          </a:p>
          <a:p>
            <a:r>
              <a:rPr lang="en-US" dirty="0"/>
              <a:t>- </a:t>
            </a:r>
            <a:r>
              <a:rPr lang="en-US" b="1" dirty="0"/>
              <a:t>Plot</a:t>
            </a:r>
            <a:r>
              <a:rPr lang="en-US" dirty="0"/>
              <a:t> decay curves by group (km vs rank)</a:t>
            </a:r>
          </a:p>
        </p:txBody>
      </p:sp>
    </p:spTree>
    <p:extLst>
      <p:ext uri="{BB962C8B-B14F-4D97-AF65-F5344CB8AC3E}">
        <p14:creationId xmlns:p14="http://schemas.microsoft.com/office/powerpoint/2010/main" val="37331733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4E2012C-A17C-FF01-4425-A860EAC72BF8}"/>
              </a:ext>
            </a:extLst>
          </p:cNvPr>
          <p:cNvSpPr txBox="1"/>
          <p:nvPr/>
        </p:nvSpPr>
        <p:spPr>
          <a:xfrm>
            <a:off x="976183" y="475735"/>
            <a:ext cx="9873049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Poisson GLM fit</a:t>
            </a:r>
          </a:p>
          <a:p>
            <a:endParaRPr lang="en-US" b="1" dirty="0"/>
          </a:p>
          <a:p>
            <a:r>
              <a:rPr lang="en-US" b="1" dirty="0"/>
              <a:t>Curve align in rank, not in  km:  </a:t>
            </a:r>
            <a:br>
              <a:rPr lang="en-US" b="1" dirty="0"/>
            </a:br>
            <a:r>
              <a:rPr lang="en-US" dirty="0"/>
              <a:t>Contagion scales with community density</a:t>
            </a:r>
            <a:br>
              <a:rPr lang="en-US" dirty="0"/>
            </a:br>
            <a:r>
              <a:rPr lang="en-US" dirty="0"/>
              <a:t>Same thing everywhere, just stretched out geographically in rural areas</a:t>
            </a:r>
          </a:p>
          <a:p>
            <a:endParaRPr lang="en-US" dirty="0"/>
          </a:p>
          <a:p>
            <a:r>
              <a:rPr lang="en-US" b="1" dirty="0"/>
              <a:t>Curves align in km-space, not rank-space:</a:t>
            </a:r>
          </a:p>
          <a:p>
            <a:r>
              <a:rPr lang="en-US" dirty="0"/>
              <a:t>Contagion scales with physical distance.</a:t>
            </a:r>
            <a:br>
              <a:rPr lang="en-US" dirty="0"/>
            </a:br>
            <a:r>
              <a:rPr lang="en-US" dirty="0"/>
              <a:t>Rural and Urban must be a different phenomenon</a:t>
            </a:r>
          </a:p>
          <a:p>
            <a:endParaRPr lang="en-US" dirty="0"/>
          </a:p>
          <a:p>
            <a:r>
              <a:rPr lang="en-US" b="1" dirty="0"/>
              <a:t>They are all different</a:t>
            </a:r>
            <a:br>
              <a:rPr lang="en-US" b="1" dirty="0"/>
            </a:br>
            <a:r>
              <a:rPr lang="en-US" dirty="0"/>
              <a:t>No pattern?</a:t>
            </a:r>
          </a:p>
        </p:txBody>
      </p:sp>
    </p:spTree>
    <p:extLst>
      <p:ext uri="{BB962C8B-B14F-4D97-AF65-F5344CB8AC3E}">
        <p14:creationId xmlns:p14="http://schemas.microsoft.com/office/powerpoint/2010/main" val="8866039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3E623B5-D428-6006-229C-B86ADA41FFF2}"/>
              </a:ext>
            </a:extLst>
          </p:cNvPr>
          <p:cNvSpPr txBox="1"/>
          <p:nvPr/>
        </p:nvSpPr>
        <p:spPr>
          <a:xfrm>
            <a:off x="466466" y="586946"/>
            <a:ext cx="864046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 err="1"/>
              <a:t>SaTScan</a:t>
            </a:r>
            <a:r>
              <a:rPr lang="en-US" sz="2400" b="1" dirty="0"/>
              <a:t> censoring estimate</a:t>
            </a:r>
          </a:p>
          <a:p>
            <a:endParaRPr lang="en-US" sz="2400" dirty="0"/>
          </a:p>
          <a:p>
            <a:r>
              <a:rPr lang="en-US" sz="2400" dirty="0"/>
              <a:t>With x=</a:t>
            </a:r>
            <a:r>
              <a:rPr lang="en-US" sz="2400" dirty="0" err="1"/>
              <a:t>SaTScan</a:t>
            </a:r>
            <a:r>
              <a:rPr lang="en-US" sz="2400" dirty="0"/>
              <a:t> km threshold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what fraction of the curve's mass falls beyond whatever fixed radius used earlier in </a:t>
            </a:r>
            <a:r>
              <a:rPr lang="en-US" sz="2400" dirty="0" err="1"/>
              <a:t>SaTScan</a:t>
            </a:r>
            <a:r>
              <a:rPr lang="en-US" sz="2400" dirty="0"/>
              <a:t> (150km-250km)</a:t>
            </a:r>
          </a:p>
          <a:p>
            <a:endParaRPr lang="en-US" sz="2400" b="1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8660362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</TotalTime>
  <Words>276</Words>
  <Application>Microsoft Macintosh PowerPoint</Application>
  <PresentationFormat>Widescreen</PresentationFormat>
  <Paragraphs>34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Matteo Perini</dc:creator>
  <cp:lastModifiedBy>Matteo Perini</cp:lastModifiedBy>
  <cp:revision>2</cp:revision>
  <dcterms:created xsi:type="dcterms:W3CDTF">2026-07-22T15:43:57Z</dcterms:created>
  <dcterms:modified xsi:type="dcterms:W3CDTF">2026-07-22T18:32:51Z</dcterms:modified>
</cp:coreProperties>
</file>