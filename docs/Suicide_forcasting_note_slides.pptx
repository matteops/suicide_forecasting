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266" r:id="rId3"/>
    <p:sldId id="265" r:id="rId4"/>
    <p:sldId id="258" r:id="rId5"/>
    <p:sldId id="259" r:id="rId6"/>
    <p:sldId id="261" r:id="rId7"/>
    <p:sldId id="262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53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7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4614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jaac.2021.12.01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93/aje/kwad205" TargetMode="External"/><Relationship Id="rId5" Type="http://schemas.openxmlformats.org/officeDocument/2006/relationships/hyperlink" Target="https://doi.org/10.1016/j.ssmph.2025.101866" TargetMode="External"/><Relationship Id="rId4" Type="http://schemas.openxmlformats.org/officeDocument/2006/relationships/hyperlink" Target="https://doi.org/10.1007/S00127-019-01736-4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126/sciadv.adq4074" TargetMode="External"/><Relationship Id="rId3" Type="http://schemas.openxmlformats.org/officeDocument/2006/relationships/hyperlink" Target="https://doi.org/10.1016/S2468-2667(22)00290-0" TargetMode="External"/><Relationship Id="rId7" Type="http://schemas.openxmlformats.org/officeDocument/2006/relationships/hyperlink" Target="https://doi.org/10.3390/make5010013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icrosoft/LightGBM" TargetMode="External"/><Relationship Id="rId5" Type="http://schemas.openxmlformats.org/officeDocument/2006/relationships/hyperlink" Target="https://doi.org/10.1371/journal.pone.0260931" TargetMode="External"/><Relationship Id="rId10" Type="http://schemas.openxmlformats.org/officeDocument/2006/relationships/hyperlink" Target="https://unit8co.github.io/darts/" TargetMode="External"/><Relationship Id="rId4" Type="http://schemas.openxmlformats.org/officeDocument/2006/relationships/hyperlink" Target="https://doi.org/10.1371/journal.pcbi.1010945" TargetMode="External"/><Relationship Id="rId9" Type="http://schemas.openxmlformats.org/officeDocument/2006/relationships/hyperlink" Target="https://doi.org/10.1371/journal.pcbi.1007486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2196/68212" TargetMode="External"/><Relationship Id="rId3" Type="http://schemas.openxmlformats.org/officeDocument/2006/relationships/hyperlink" Target="https://arxiv.org/pdf/2506.15030" TargetMode="External"/><Relationship Id="rId7" Type="http://schemas.openxmlformats.org/officeDocument/2006/relationships/hyperlink" Target="https://github.com/bionlplab/suicide_sdoh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93/jamia/ocad068" TargetMode="External"/><Relationship Id="rId5" Type="http://schemas.openxmlformats.org/officeDocument/2006/relationships/hyperlink" Target="https://doi.org/10.1038/s43856-024-00631-7" TargetMode="External"/><Relationship Id="rId10" Type="http://schemas.openxmlformats.org/officeDocument/2006/relationships/hyperlink" Target="https://huggingface.co/docs/transformers/v5.10.2/en/model_doc/distilbert" TargetMode="External"/><Relationship Id="rId4" Type="http://schemas.openxmlformats.org/officeDocument/2006/relationships/hyperlink" Target="https://maartengr.github.io/BERTopic/index.html" TargetMode="External"/><Relationship Id="rId9" Type="http://schemas.openxmlformats.org/officeDocument/2006/relationships/hyperlink" Target="https://arxiv.org/abs/2508.18541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186/S12911-024-02524-0" TargetMode="External"/><Relationship Id="rId3" Type="http://schemas.openxmlformats.org/officeDocument/2006/relationships/hyperlink" Target="https://doi.org/10.1016/j.eclinm.2020.100281" TargetMode="External"/><Relationship Id="rId7" Type="http://schemas.openxmlformats.org/officeDocument/2006/relationships/hyperlink" Target="https://doi.org/10.3389/fpsyt.2024.1291362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16/j.jad.2018.11.073" TargetMode="External"/><Relationship Id="rId11" Type="http://schemas.openxmlformats.org/officeDocument/2006/relationships/hyperlink" Target="https://doi.org/10.48550/arXiv.1810.11363" TargetMode="External"/><Relationship Id="rId5" Type="http://schemas.openxmlformats.org/officeDocument/2006/relationships/hyperlink" Target="https://doi.org/10.3390/ijerph17165929" TargetMode="External"/><Relationship Id="rId10" Type="http://schemas.openxmlformats.org/officeDocument/2006/relationships/hyperlink" Target="https://doi.org/10.1145/2939672.2939785" TargetMode="External"/><Relationship Id="rId4" Type="http://schemas.openxmlformats.org/officeDocument/2006/relationships/hyperlink" Target="https://doi.org/10.1186/1471-244X-14-76" TargetMode="External"/><Relationship Id="rId9" Type="http://schemas.openxmlformats.org/officeDocument/2006/relationships/hyperlink" Target="https://doi.org/10.1023/A:1010933404324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7717/peerj-cs.205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2400" dirty="0">
              <a:solidFill>
                <a:schemeClr val="accent1"/>
              </a:solidFill>
            </a:endParaRPr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0482763"/>
              </p:ext>
            </p:extLst>
          </p:nvPr>
        </p:nvGraphicFramePr>
        <p:xfrm>
          <a:off x="1423357" y="1351587"/>
          <a:ext cx="8333118" cy="3407664"/>
        </p:xfrm>
        <a:graphic>
          <a:graphicData uri="http://schemas.openxmlformats.org/drawingml/2006/table">
            <a:tbl>
              <a:tblPr/>
              <a:tblGrid>
                <a:gridCol w="970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626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Tag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Full Name &amp; Description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07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SEDD, SID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Emergency Department attempt data — State Emergency Department Databases (HCUP)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Inpatient attempt data — State Inpatient Databases (HCUP)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NVDRS-RAD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Violent death registry — National Violent Death Reporting System Restricted Access Dataset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76 contextual predictors assembled from 26 data sources across 4 domains: demographic/environmental, socioeconomic/structural, social/community, and individual-level risk factors. Includes Census, BRFSS, and other public-use sources.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Narrative text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NVDRS-RAD qualitative text narratives from original medical examiner, coroner, and law enforcement reports — provide critical context for mechanistic classification.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3D389-0BDB-4D07-90AB-244575E5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DFB77E-9FFF-33F5-2A56-65332878B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055813"/>
              </p:ext>
            </p:extLst>
          </p:nvPr>
        </p:nvGraphicFramePr>
        <p:xfrm>
          <a:off x="436971" y="954137"/>
          <a:ext cx="11318058" cy="5082064"/>
        </p:xfrm>
        <a:graphic>
          <a:graphicData uri="http://schemas.openxmlformats.org/drawingml/2006/table">
            <a:tbl>
              <a:tblPr/>
              <a:tblGrid>
                <a:gridCol w="1414757">
                  <a:extLst>
                    <a:ext uri="{9D8B030D-6E8A-4147-A177-3AD203B41FA5}">
                      <a16:colId xmlns:a16="http://schemas.microsoft.com/office/drawing/2014/main" val="524235923"/>
                    </a:ext>
                  </a:extLst>
                </a:gridCol>
                <a:gridCol w="1414757">
                  <a:extLst>
                    <a:ext uri="{9D8B030D-6E8A-4147-A177-3AD203B41FA5}">
                      <a16:colId xmlns:a16="http://schemas.microsoft.com/office/drawing/2014/main" val="759385765"/>
                    </a:ext>
                  </a:extLst>
                </a:gridCol>
                <a:gridCol w="2797885">
                  <a:extLst>
                    <a:ext uri="{9D8B030D-6E8A-4147-A177-3AD203B41FA5}">
                      <a16:colId xmlns:a16="http://schemas.microsoft.com/office/drawing/2014/main" val="1175574609"/>
                    </a:ext>
                  </a:extLst>
                </a:gridCol>
                <a:gridCol w="828136">
                  <a:extLst>
                    <a:ext uri="{9D8B030D-6E8A-4147-A177-3AD203B41FA5}">
                      <a16:colId xmlns:a16="http://schemas.microsoft.com/office/drawing/2014/main" val="21364455"/>
                    </a:ext>
                  </a:extLst>
                </a:gridCol>
                <a:gridCol w="1259456">
                  <a:extLst>
                    <a:ext uri="{9D8B030D-6E8A-4147-A177-3AD203B41FA5}">
                      <a16:colId xmlns:a16="http://schemas.microsoft.com/office/drawing/2014/main" val="2372185363"/>
                    </a:ext>
                  </a:extLst>
                </a:gridCol>
                <a:gridCol w="1173193">
                  <a:extLst>
                    <a:ext uri="{9D8B030D-6E8A-4147-A177-3AD203B41FA5}">
                      <a16:colId xmlns:a16="http://schemas.microsoft.com/office/drawing/2014/main" val="2570068819"/>
                    </a:ext>
                  </a:extLst>
                </a:gridCol>
                <a:gridCol w="1311215">
                  <a:extLst>
                    <a:ext uri="{9D8B030D-6E8A-4147-A177-3AD203B41FA5}">
                      <a16:colId xmlns:a16="http://schemas.microsoft.com/office/drawing/2014/main" val="988873422"/>
                    </a:ext>
                  </a:extLst>
                </a:gridCol>
                <a:gridCol w="1118659">
                  <a:extLst>
                    <a:ext uri="{9D8B030D-6E8A-4147-A177-3AD203B41FA5}">
                      <a16:colId xmlns:a16="http://schemas.microsoft.com/office/drawing/2014/main" val="542937203"/>
                    </a:ext>
                  </a:extLst>
                </a:gridCol>
              </a:tblGrid>
              <a:tr h="8561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Domain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Sub-domains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Rationale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Variables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Data Sources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Years available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Geographic levels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Temporal units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978213"/>
                  </a:ext>
                </a:extLst>
              </a:tr>
              <a:tr h="685687">
                <a:tc rowSpan="3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Demographic and environmental context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Demographics &amp; Population Dynamics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Population structure, age composition, migration patterns, and density affect both cluster visibility and contagion potential through community disruption and proximity.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9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ACS;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>
                          <a:effectLst/>
                        </a:rPr>
                        <a:t> CEN; 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>
                          <a:effectLst/>
                        </a:rPr>
                        <a:t>ERS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2009-2024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Decade; Annually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20772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Environmental &amp; Temporal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Seasonal patterns, weather extremes, and natural disasters provide temporal triggers and chronic risk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9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NOAAC; NEPHTN; USGS; FEMA; USDA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1895-2025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State, 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Static; Monthly; Annually; Daily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5024047"/>
                  </a:ext>
                </a:extLst>
              </a:tr>
              <a:tr h="358376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Geographic Isolation &amp; Access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Geographic remoteness affects contagion pathways while creating structural vulnerability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6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CEN; ERS; NOAA; USDA; USGS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1985-2004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Static; 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790136"/>
                  </a:ext>
                </a:extLst>
              </a:tr>
              <a:tr h="331100">
                <a:tc rowSpan="4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2. Socioeconomic and structural conditions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Economic Indicators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Economic shocks provide temporal signals while chronic disadvantage creates vulnerability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AHRF; Census; ACS; CCBP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1976-2005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sporadic; monthly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3566863"/>
                  </a:ext>
                </a:extLst>
              </a:tr>
              <a:tr h="412928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Institutional Environments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Schools and workplaces are common cluster sites, with resource stress indicating limited crisis response capacity.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ACS; NCES; CCD; AHRQ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1987-2024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32783"/>
                  </a:ext>
                </a:extLst>
              </a:tr>
              <a:tr h="576583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Healthcare System Capacity &amp; Access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Healthcare infrastructure determines prevention capacity, crisis response effectiveness, and mental health provider density critical for intervention.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7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CHR; AHRF; 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2010-2025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1584435"/>
                  </a:ext>
                </a:extLst>
              </a:tr>
              <a:tr h="576583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Digital Connectivity &amp; Media Infrastructure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Internet access and broadband availability affect media-triggered contagion pathways and determine potential reach of prevention messaging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2013-2024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877515"/>
                  </a:ext>
                </a:extLst>
              </a:tr>
            </a:tbl>
          </a:graphicData>
        </a:graphic>
      </p:graphicFrame>
      <p:sp>
        <p:nvSpPr>
          <p:cNvPr id="6" name="Text 0">
            <a:extLst>
              <a:ext uri="{FF2B5EF4-FFF2-40B4-BE49-F238E27FC236}">
                <a16:creationId xmlns:a16="http://schemas.microsoft.com/office/drawing/2014/main" id="{A53B776F-B40B-974B-4957-2C790AB5DAEC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kern="0" dirty="0">
                <a:solidFill>
                  <a:srgbClr val="000000"/>
                </a:solidFill>
                <a:ea typeface="Times New Roman" panose="02020603050405020304" pitchFamily="18" charset="0"/>
              </a:rPr>
              <a:t>contextual predictor variables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358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A25BE95-E7BD-4C9D-09EF-72836870E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735533"/>
              </p:ext>
            </p:extLst>
          </p:nvPr>
        </p:nvGraphicFramePr>
        <p:xfrm>
          <a:off x="426308" y="842925"/>
          <a:ext cx="11339384" cy="3738146"/>
        </p:xfrm>
        <a:graphic>
          <a:graphicData uri="http://schemas.openxmlformats.org/drawingml/2006/table">
            <a:tbl>
              <a:tblPr/>
              <a:tblGrid>
                <a:gridCol w="1417423">
                  <a:extLst>
                    <a:ext uri="{9D8B030D-6E8A-4147-A177-3AD203B41FA5}">
                      <a16:colId xmlns:a16="http://schemas.microsoft.com/office/drawing/2014/main" val="524235923"/>
                    </a:ext>
                  </a:extLst>
                </a:gridCol>
                <a:gridCol w="1417423">
                  <a:extLst>
                    <a:ext uri="{9D8B030D-6E8A-4147-A177-3AD203B41FA5}">
                      <a16:colId xmlns:a16="http://schemas.microsoft.com/office/drawing/2014/main" val="759385765"/>
                    </a:ext>
                  </a:extLst>
                </a:gridCol>
                <a:gridCol w="2975744">
                  <a:extLst>
                    <a:ext uri="{9D8B030D-6E8A-4147-A177-3AD203B41FA5}">
                      <a16:colId xmlns:a16="http://schemas.microsoft.com/office/drawing/2014/main" val="1175574609"/>
                    </a:ext>
                  </a:extLst>
                </a:gridCol>
                <a:gridCol w="741872">
                  <a:extLst>
                    <a:ext uri="{9D8B030D-6E8A-4147-A177-3AD203B41FA5}">
                      <a16:colId xmlns:a16="http://schemas.microsoft.com/office/drawing/2014/main" val="21364455"/>
                    </a:ext>
                  </a:extLst>
                </a:gridCol>
                <a:gridCol w="1155939">
                  <a:extLst>
                    <a:ext uri="{9D8B030D-6E8A-4147-A177-3AD203B41FA5}">
                      <a16:colId xmlns:a16="http://schemas.microsoft.com/office/drawing/2014/main" val="2372185363"/>
                    </a:ext>
                  </a:extLst>
                </a:gridCol>
                <a:gridCol w="1173193">
                  <a:extLst>
                    <a:ext uri="{9D8B030D-6E8A-4147-A177-3AD203B41FA5}">
                      <a16:colId xmlns:a16="http://schemas.microsoft.com/office/drawing/2014/main" val="2570068819"/>
                    </a:ext>
                  </a:extLst>
                </a:gridCol>
                <a:gridCol w="1319841">
                  <a:extLst>
                    <a:ext uri="{9D8B030D-6E8A-4147-A177-3AD203B41FA5}">
                      <a16:colId xmlns:a16="http://schemas.microsoft.com/office/drawing/2014/main" val="988873422"/>
                    </a:ext>
                  </a:extLst>
                </a:gridCol>
                <a:gridCol w="1137949">
                  <a:extLst>
                    <a:ext uri="{9D8B030D-6E8A-4147-A177-3AD203B41FA5}">
                      <a16:colId xmlns:a16="http://schemas.microsoft.com/office/drawing/2014/main" val="542937203"/>
                    </a:ext>
                  </a:extLst>
                </a:gridCol>
              </a:tblGrid>
              <a:tr h="8561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Domain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Sub-domains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Rationale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Variables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Data Sources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Years available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Geographic levels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Temporal units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978213"/>
                  </a:ext>
                </a:extLst>
              </a:tr>
              <a:tr h="358376">
                <a:tc rowSpan="4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3. Social and community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Social Capital &amp; Connectivity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Social networks have dual effects, providing protective support while facilitating contagion spread,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Penn Social Capital Index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1990-2014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Sporadic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8309001"/>
                  </a:ext>
                </a:extLst>
              </a:tr>
              <a:tr h="303824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>
                          <a:effectLst/>
                        </a:rPr>
                        <a:t>Community Stress &amp; Violence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Community violence exposure and crime rates indicate environmental stressors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CHR; UCR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1985-2005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County; State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Annually; monthly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6400373"/>
                  </a:ext>
                </a:extLst>
              </a:tr>
              <a:tr h="385651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Social Fragmentation &amp; Stability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Housing instability, residential mobility, and family structure disruption signal social fragmentation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2010-2024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5986166"/>
                  </a:ext>
                </a:extLst>
              </a:tr>
              <a:tr h="249272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Public Attention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High profile suicides and popular fictional </a:t>
                      </a:r>
                      <a:r>
                        <a:rPr lang="en-US" sz="1200" dirty="0" err="1">
                          <a:effectLst/>
                        </a:rPr>
                        <a:t>depections</a:t>
                      </a:r>
                      <a:r>
                        <a:rPr lang="en-US" sz="1200" dirty="0">
                          <a:effectLst/>
                        </a:rPr>
                        <a:t> of suicide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Google Trends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2004-2025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Designated Market Area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Monthly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054219"/>
                  </a:ext>
                </a:extLst>
              </a:tr>
              <a:tr h="549308">
                <a:tc rowSpan="2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4. Individual-level risk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Mental Health and Substance Use Environment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Population-level mental health burden and substance use patterns indicate baseline vulnerability and potential triggering factors for cluster emergence.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BRFSS; CHR; CDC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1999-2025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State; 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269021"/>
                  </a:ext>
                </a:extLst>
              </a:tr>
              <a:tr h="631136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Lethal Means &amp; Method Availability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Firearm access strongly predicts mortality and shapes cluster characteristics, with method availability distinguishing whether attempts result in deaths for early warning systems.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CHR; BATFE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2017-2025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State; County; Zip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4773209"/>
                  </a:ext>
                </a:extLst>
              </a:tr>
            </a:tbl>
          </a:graphicData>
        </a:graphic>
      </p:graphicFrame>
      <p:sp>
        <p:nvSpPr>
          <p:cNvPr id="2" name="Text 0">
            <a:extLst>
              <a:ext uri="{FF2B5EF4-FFF2-40B4-BE49-F238E27FC236}">
                <a16:creationId xmlns:a16="http://schemas.microsoft.com/office/drawing/2014/main" id="{24094D53-86C2-767E-8CE3-143964F71AFC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kern="0" dirty="0">
                <a:solidFill>
                  <a:srgbClr val="000000"/>
                </a:solidFill>
                <a:ea typeface="Times New Roman" panose="02020603050405020304" pitchFamily="18" charset="0"/>
              </a:rPr>
              <a:t>contextual predictor variables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1605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Work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Cluster Detection &amp; Spatial Analysis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9945641"/>
              </p:ext>
            </p:extLst>
          </p:nvPr>
        </p:nvGraphicFramePr>
        <p:xfrm>
          <a:off x="201168" y="1590315"/>
          <a:ext cx="11777472" cy="2088045"/>
        </p:xfrm>
        <a:graphic>
          <a:graphicData uri="http://schemas.openxmlformats.org/drawingml/2006/table">
            <a:tbl>
              <a:tblPr/>
              <a:tblGrid>
                <a:gridCol w="332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17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62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6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2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2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1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Spatiotemporal Scan Statistics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Space-time cluster detection; SaTScan-style methods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SEDD-SID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/ Death certificates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denominators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Platt et al.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Sy et al.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Sursely et al.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4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2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Growth Mixture Models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Trajectory-based clustering of county-level suicide rates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/ Death certificates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denominators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Keyes et al.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190294"/>
            <a:ext cx="11777472" cy="7241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1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Forecasting System: Statistical, Machine Learning, Dynamical &amp; Multi-Model Ensemble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116850"/>
              </p:ext>
            </p:extLst>
          </p:nvPr>
        </p:nvGraphicFramePr>
        <p:xfrm>
          <a:off x="201168" y="1187484"/>
          <a:ext cx="11777472" cy="5151120"/>
        </p:xfrm>
        <a:graphic>
          <a:graphicData uri="http://schemas.openxmlformats.org/drawingml/2006/table">
            <a:tbl>
              <a:tblPr/>
              <a:tblGrid>
                <a:gridCol w="347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3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69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94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37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185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3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Bayesian Hierarchical Model / CAR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Statistical; spatiotemporal autocorrelation; county &amp; state-level</a:t>
                      </a:r>
                      <a:br>
                        <a:rPr lang="en-US" sz="1400" dirty="0"/>
                      </a:b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Exponential smoothing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(historical, lagged)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/ BRFSS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Daily weather / monthly unemployment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Kandula et al. (2023)</a:t>
                      </a:r>
                      <a:r>
                        <a:rPr lang="en-US" sz="1400" dirty="0"/>
                        <a:t> — County-level suicide mortality modelling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Kandula et al. (2023b)</a:t>
                      </a:r>
                      <a:r>
                        <a:rPr lang="en-US" sz="1400" dirty="0"/>
                        <a:t> — Hindcasts and forecasts of suicide mortality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Gimbrone et al.</a:t>
                      </a:r>
                      <a:r>
                        <a:rPr lang="en-US" sz="1400" dirty="0"/>
                        <a:t> — Prior use of CAR models for suicide risk estimation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66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4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LightGBM</a:t>
                      </a:r>
                      <a:endParaRPr lang="en-US" sz="1400" dirty="0">
                        <a:solidFill>
                          <a:schemeClr val="accent6"/>
                        </a:solidFill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Gradient Boosting Decision Tree; ML; time-series forecasting of attempt counts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 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 (ZIP, county, state scales)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High-freq dynamic predictors (weather, unemployment)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 et al.</a:t>
                      </a:r>
                      <a:r>
                        <a:rPr lang="en-US" sz="1400" dirty="0"/>
                        <a:t> — Demonstrated strong performance in time-series forecasting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5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Neural Networks (NN) 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Deep learning; quantile-based probabilistic forecasting; non-linear patterns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400" b="1" kern="1200" dirty="0" err="1">
                          <a:solidFill>
                            <a:schemeClr val="accent6"/>
                          </a:solidFill>
                          <a:latin typeface="+mn-lt"/>
                          <a:ea typeface="+mn-ea"/>
                          <a:cs typeface="+mn-cs"/>
                        </a:rPr>
                        <a:t>NHiTS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(Neural Hierarchical Interpolation for Time Series. similar to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N-BEATS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 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High-freq dynamic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Santangelo et al.</a:t>
                      </a:r>
                      <a:r>
                        <a:rPr lang="en-US" sz="1400" dirty="0"/>
                        <a:t> — ML for infectious disease forecasting and non-linear relationships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0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6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Mathematical Contagion Model + EAKF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Dynamical systems; Bayesian data assimilation; real-time parameter optimization; epidemic-style forecasting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(assimilated)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SID (assimilated)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Shaman et al. (2024)</a:t>
                      </a:r>
                      <a:r>
                        <a:rPr lang="en-US" sz="1400" dirty="0"/>
                        <a:t> — Prior structure simulating suicide ideation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56679"/>
                  </a:ext>
                </a:extLst>
              </a:tr>
              <a:tr h="62916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7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Multi-Model Ensemble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Combines outputs of statistical, LightGBM, NN, and dynamical models; corrects individual system biases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Outputs of models #3–6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SID-SEDD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Reich et al.</a:t>
                      </a:r>
                      <a:r>
                        <a:rPr lang="en-US" sz="1400" dirty="0"/>
                        <a:t> — Accuracy of real-time multi-model ensemble forecasts for seasonal influenza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177278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F11C0C5-CDD6-FBE8-6B60-EE0191B4DAFC}"/>
              </a:ext>
            </a:extLst>
          </p:cNvPr>
          <p:cNvSpPr txBox="1"/>
          <p:nvPr/>
        </p:nvSpPr>
        <p:spPr>
          <a:xfrm>
            <a:off x="469556" y="6427022"/>
            <a:ext cx="14729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92D050"/>
                </a:solidFill>
              </a:rPr>
              <a:t>Available in </a:t>
            </a:r>
            <a:r>
              <a:rPr lang="en-US" sz="1400" b="1" dirty="0">
                <a:solidFill>
                  <a:srgbClr val="92D050"/>
                </a:solidFill>
                <a:hlinkClick r:id="rId10"/>
              </a:rPr>
              <a:t>darts</a:t>
            </a:r>
            <a:endParaRPr lang="en-US" sz="1400" b="1" dirty="0">
              <a:solidFill>
                <a:srgbClr val="92D05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Mechanistic Classification: Natural Language Processing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7577899"/>
              </p:ext>
            </p:extLst>
          </p:nvPr>
        </p:nvGraphicFramePr>
        <p:xfrm>
          <a:off x="201168" y="693214"/>
          <a:ext cx="11777472" cy="2717251"/>
        </p:xfrm>
        <a:graphic>
          <a:graphicData uri="http://schemas.openxmlformats.org/drawingml/2006/table">
            <a:tbl>
              <a:tblPr/>
              <a:tblGrid>
                <a:gridCol w="347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461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56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8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NLP: 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Topic Modeling &amp; Supervised Text Classifiers - </a:t>
                      </a:r>
                      <a:r>
                        <a:rPr lang="en-US" sz="1400" b="1" kern="1200" dirty="0" err="1">
                          <a:solidFill>
                            <a:srgbClr val="C00000"/>
                          </a:solidFill>
                          <a:latin typeface="+mn-lt"/>
                          <a:ea typeface="+mn-ea"/>
                          <a:cs typeface="+mn-cs"/>
                        </a:rPr>
                        <a:t>BioBERT</a:t>
                      </a:r>
                      <a:endParaRPr lang="en-US" sz="1400" b="1" kern="1200" dirty="0">
                        <a:solidFill>
                          <a:srgbClr val="C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Extracts social isolation,</a:t>
                      </a:r>
                      <a:r>
                        <a:rPr lang="en-US" sz="1400" b="0" dirty="0"/>
                        <a:t> </a:t>
                      </a:r>
                      <a:r>
                        <a:rPr lang="en-US" sz="1400" dirty="0"/>
                        <a:t>precipitating events, contagion markers from death narratives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narrative text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circumstances data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Walker et al.</a:t>
                      </a:r>
                      <a:r>
                        <a:rPr lang="en-US" sz="1400" dirty="0"/>
                        <a:t> — Identifying social isolation themes in NVDRS text via topic modeling–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BERTopic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>
                          <a:hlinkClick r:id="rId4"/>
                        </a:rPr>
                        <a:t>https://maartengr.github.io/BERTopic/index.html</a:t>
                      </a:r>
                      <a:r>
                        <a:rPr lang="en-US" sz="1400" dirty="0"/>
                        <a:t> 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Wang et al. (2024)</a:t>
                      </a:r>
                      <a:r>
                        <a:rPr lang="en-US" sz="1400" dirty="0"/>
                        <a:t> — Detecting inconsistencies in death investigation notes- -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bioBERT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Wang et al. (2023)</a:t>
                      </a:r>
                      <a:r>
                        <a:rPr lang="en-US" sz="1400" dirty="0"/>
                        <a:t> — NLP to identify SDoH-related circumstances from death narratives </a:t>
                      </a:r>
                      <a:r>
                        <a:rPr lang="en-US" sz="1400" dirty="0">
                          <a:hlinkClick r:id="rId7"/>
                        </a:rPr>
                        <a:t>https://github.com/bionlplab/suicide_sdoh</a:t>
                      </a:r>
                      <a:r>
                        <a:rPr lang="en-US" sz="1400" dirty="0"/>
                        <a:t> 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627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9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distilBERT</a:t>
                      </a:r>
                      <a:r>
                        <a:rPr lang="en-US" sz="1400" b="1" dirty="0"/>
                        <a:t> </a:t>
                      </a:r>
                      <a:r>
                        <a:rPr lang="en-US" sz="1400" dirty="0"/>
                        <a:t>Transformer-based NLP; replicates annotations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narrative text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circumstances data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Parker</a:t>
                      </a:r>
                      <a:r>
                        <a:rPr lang="en-US" sz="1400" dirty="0"/>
                        <a:t> — Supervised NLP classification of violent death narratives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Ranjit et al.</a:t>
                      </a:r>
                      <a:r>
                        <a:rPr lang="en-US" sz="1400" dirty="0"/>
                        <a:t> — LLM-assisted intervention opportunity identification for suicide prevention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F5EE362-68ED-3940-8F05-8D9303056209}"/>
              </a:ext>
            </a:extLst>
          </p:cNvPr>
          <p:cNvSpPr txBox="1"/>
          <p:nvPr/>
        </p:nvSpPr>
        <p:spPr>
          <a:xfrm>
            <a:off x="469556" y="6427022"/>
            <a:ext cx="31631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Available in </a:t>
            </a:r>
            <a:r>
              <a:rPr lang="en-US" sz="1400" b="1" dirty="0">
                <a:solidFill>
                  <a:srgbClr val="C00000"/>
                </a:solidFill>
                <a:hlinkClick r:id="rId10"/>
              </a:rPr>
              <a:t>Hugging Face - Transformers</a:t>
            </a:r>
            <a:endParaRPr lang="en-US" sz="1400"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Mechanistic Classification: ML Ensemble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998560"/>
              </p:ext>
            </p:extLst>
          </p:nvPr>
        </p:nvGraphicFramePr>
        <p:xfrm>
          <a:off x="201168" y="713232"/>
          <a:ext cx="11777472" cy="5895162"/>
        </p:xfrm>
        <a:graphic>
          <a:graphicData uri="http://schemas.openxmlformats.org/drawingml/2006/table">
            <a:tbl>
              <a:tblPr/>
              <a:tblGrid>
                <a:gridCol w="347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30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9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10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Random Forest (RF)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Breiman's bootstrap aggregation; hyperparameter selection; classifies cluster mechanism types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Sanderson et al.</a:t>
                      </a:r>
                      <a:r>
                        <a:rPr lang="en-US" sz="1400" dirty="0"/>
                        <a:t> — Predicting suicide death following ED visit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Tran et al.</a:t>
                      </a:r>
                      <a:r>
                        <a:rPr lang="en-US" sz="1400" dirty="0"/>
                        <a:t> — Risk stratification from electronic medical records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Bernert et al.</a:t>
                      </a:r>
                      <a:r>
                        <a:rPr lang="en-US" sz="1400" dirty="0"/>
                        <a:t> — AI and suicide prevention: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Burke et al.</a:t>
                      </a:r>
                      <a:r>
                        <a:rPr lang="en-US" sz="1400" dirty="0"/>
                        <a:t> — ML in study of suicidal thoughts and behaviors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Breiman</a:t>
                      </a:r>
                      <a:r>
                        <a:rPr lang="en-US" sz="1400" dirty="0"/>
                        <a:t> — Breiman's original random forests paper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11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92D050"/>
                          </a:solidFill>
                        </a:rPr>
                        <a:t>XGBoost</a:t>
                      </a:r>
                      <a:endParaRPr lang="en-US" sz="1400" dirty="0">
                        <a:solidFill>
                          <a:srgbClr val="92D050"/>
                        </a:solidFill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Gradient tree boosting; scalable; classifies cluster mechanisms;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Bernert et al.</a:t>
                      </a:r>
                      <a:r>
                        <a:rPr lang="en-US" sz="1400" dirty="0"/>
                        <a:t> — AI and suicide prevention: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Burke et al.</a:t>
                      </a:r>
                      <a:r>
                        <a:rPr lang="en-US" sz="1400" dirty="0"/>
                        <a:t> — ML in study of suicidal thoughts and behaviors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Chen &amp; Guestrin</a:t>
                      </a:r>
                      <a:r>
                        <a:rPr lang="en-US" sz="1400" dirty="0"/>
                        <a:t> — XGBoost: scalable tree boosting system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12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CatBoost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Categorical gradient boosting; handles mixed-type features;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Prokhorenkova et al.</a:t>
                      </a:r>
                      <a:r>
                        <a:rPr lang="en-US" sz="1400" dirty="0"/>
                        <a:t> — CatBoost original paper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3022525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13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Weighted Ensemble (RF, </a:t>
                      </a:r>
                      <a:r>
                        <a:rPr lang="en-US" sz="1400" b="1" dirty="0" err="1"/>
                        <a:t>XGBoost</a:t>
                      </a:r>
                      <a:r>
                        <a:rPr lang="en-US" sz="1400" b="1" dirty="0"/>
                        <a:t>, CatBoost)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Final classifier; optimizes accuracy + interpretability; (</a:t>
                      </a:r>
                      <a:r>
                        <a:rPr lang="en-US" sz="1400" dirty="0" err="1"/>
                        <a:t>eg.</a:t>
                      </a:r>
                      <a:r>
                        <a:rPr lang="en-US" sz="1400" dirty="0"/>
                        <a:t> train 2000–2015, test 2016–2023)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Chen &amp; Guestrin</a:t>
                      </a:r>
                      <a:r>
                        <a:rPr lang="en-US" sz="1400" dirty="0"/>
                        <a:t> — XGBoost: scalable tree boosting system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369262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Model Interpretability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221993"/>
              </p:ext>
            </p:extLst>
          </p:nvPr>
        </p:nvGraphicFramePr>
        <p:xfrm>
          <a:off x="201168" y="713232"/>
          <a:ext cx="11777472" cy="2277515"/>
        </p:xfrm>
        <a:graphic>
          <a:graphicData uri="http://schemas.openxmlformats.org/drawingml/2006/table">
            <a:tbl>
              <a:tblPr/>
              <a:tblGrid>
                <a:gridCol w="347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779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86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14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SHAP Values &amp; Gini Importance (</a:t>
                      </a:r>
                      <a:r>
                        <a:rPr lang="en-US" sz="1400" dirty="0"/>
                        <a:t>Mean Decrease in Impurity (MDI) for RF</a:t>
                      </a:r>
                      <a:r>
                        <a:rPr lang="en-US" sz="1400" b="1" dirty="0"/>
                        <a:t>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Post-hoc feature attribution for tree-based models; identifies predictors differentiating contagion-driven vs. structural clusters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Applied to trained RF, XGBoost, CatBoost models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All predictors from NVDRS-RAD + contextual set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Akhtar et al.</a:t>
                      </a:r>
                      <a:r>
                        <a:rPr lang="en-US" sz="1400" dirty="0"/>
                        <a:t> — Interpretable ensemble ML for predicting inmate suicidal behavior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1558</Words>
  <Application>Microsoft Macintosh PowerPoint</Application>
  <PresentationFormat>Widescreen</PresentationFormat>
  <Paragraphs>247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Analytical Models &amp; Data Sources</dc:title>
  <dc:subject>PptxGenJS Presentation</dc:subject>
  <dc:creator>PptxGenJS</dc:creator>
  <cp:lastModifiedBy>Matteo Perini</cp:lastModifiedBy>
  <cp:revision>13</cp:revision>
  <dcterms:created xsi:type="dcterms:W3CDTF">2026-06-08T19:27:39Z</dcterms:created>
  <dcterms:modified xsi:type="dcterms:W3CDTF">2026-06-09T15:18:25Z</dcterms:modified>
</cp:coreProperties>
</file>