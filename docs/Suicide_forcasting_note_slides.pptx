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66" r:id="rId3"/>
    <p:sldId id="265" r:id="rId4"/>
    <p:sldId id="258" r:id="rId5"/>
    <p:sldId id="259" r:id="rId6"/>
    <p:sldId id="261" r:id="rId7"/>
    <p:sldId id="262" r:id="rId8"/>
    <p:sldId id="264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44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61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ac.2021.12.01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aje/kwad205" TargetMode="External"/><Relationship Id="rId5" Type="http://schemas.openxmlformats.org/officeDocument/2006/relationships/hyperlink" Target="https://doi.org/10.1016/j.ssmph.2025.101866" TargetMode="External"/><Relationship Id="rId4" Type="http://schemas.openxmlformats.org/officeDocument/2006/relationships/hyperlink" Target="https://doi.org/10.1007/S00127-019-01736-4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26/sciadv.adq4074" TargetMode="External"/><Relationship Id="rId3" Type="http://schemas.openxmlformats.org/officeDocument/2006/relationships/hyperlink" Target="https://doi.org/10.1016/S2468-2667(22)00290-0" TargetMode="External"/><Relationship Id="rId7" Type="http://schemas.openxmlformats.org/officeDocument/2006/relationships/hyperlink" Target="https://doi.org/10.3390/make5010013" TargetMode="External"/><Relationship Id="rId12" Type="http://schemas.openxmlformats.org/officeDocument/2006/relationships/hyperlink" Target="https://cran.r-project.org/web/packages/CARBayesST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LightGBM" TargetMode="External"/><Relationship Id="rId11" Type="http://schemas.openxmlformats.org/officeDocument/2006/relationships/hyperlink" Target="https://pkg.robjhyndman.com/forecast/reference/auto.arima.html" TargetMode="External"/><Relationship Id="rId5" Type="http://schemas.openxmlformats.org/officeDocument/2006/relationships/hyperlink" Target="https://doi.org/10.1371/journal.pone.0260931" TargetMode="External"/><Relationship Id="rId10" Type="http://schemas.openxmlformats.org/officeDocument/2006/relationships/hyperlink" Target="https://unit8co.github.io/darts/" TargetMode="External"/><Relationship Id="rId4" Type="http://schemas.openxmlformats.org/officeDocument/2006/relationships/hyperlink" Target="https://doi.org/10.1371/journal.pcbi.1010945" TargetMode="External"/><Relationship Id="rId9" Type="http://schemas.openxmlformats.org/officeDocument/2006/relationships/hyperlink" Target="https://doi.org/10.1371/journal.pcbi.1007486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68212" TargetMode="External"/><Relationship Id="rId3" Type="http://schemas.openxmlformats.org/officeDocument/2006/relationships/hyperlink" Target="https://arxiv.org/pdf/2506.15030" TargetMode="External"/><Relationship Id="rId7" Type="http://schemas.openxmlformats.org/officeDocument/2006/relationships/hyperlink" Target="https://github.com/bionlplab/suicide_sdo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jamia/ocad068" TargetMode="External"/><Relationship Id="rId5" Type="http://schemas.openxmlformats.org/officeDocument/2006/relationships/hyperlink" Target="https://doi.org/10.1038/s43856-024-00631-7" TargetMode="External"/><Relationship Id="rId10" Type="http://schemas.openxmlformats.org/officeDocument/2006/relationships/hyperlink" Target="https://huggingface.co/docs/transformers/v5.10.2/en/model_doc/distilbert" TargetMode="External"/><Relationship Id="rId4" Type="http://schemas.openxmlformats.org/officeDocument/2006/relationships/hyperlink" Target="https://maartengr.github.io/BERTopic/index.html" TargetMode="External"/><Relationship Id="rId9" Type="http://schemas.openxmlformats.org/officeDocument/2006/relationships/hyperlink" Target="https://arxiv.org/abs/2508.1854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86/S12911-024-02524-0" TargetMode="External"/><Relationship Id="rId3" Type="http://schemas.openxmlformats.org/officeDocument/2006/relationships/hyperlink" Target="https://doi.org/10.1016/j.eclinm.2020.100281" TargetMode="External"/><Relationship Id="rId7" Type="http://schemas.openxmlformats.org/officeDocument/2006/relationships/hyperlink" Target="https://doi.org/10.3389/fpsyt.2024.1291362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jad.2018.11.073" TargetMode="External"/><Relationship Id="rId11" Type="http://schemas.openxmlformats.org/officeDocument/2006/relationships/hyperlink" Target="https://doi.org/10.48550/arXiv.1810.11363" TargetMode="External"/><Relationship Id="rId5" Type="http://schemas.openxmlformats.org/officeDocument/2006/relationships/hyperlink" Target="https://doi.org/10.3390/ijerph17165929" TargetMode="External"/><Relationship Id="rId10" Type="http://schemas.openxmlformats.org/officeDocument/2006/relationships/hyperlink" Target="https://doi.org/10.1145/2939672.2939785" TargetMode="External"/><Relationship Id="rId4" Type="http://schemas.openxmlformats.org/officeDocument/2006/relationships/hyperlink" Target="https://doi.org/10.1186/1471-244X-14-76" TargetMode="External"/><Relationship Id="rId9" Type="http://schemas.openxmlformats.org/officeDocument/2006/relationships/hyperlink" Target="https://doi.org/10.1023/A:101093340432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7717/peerj-cs.205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teoPS/suicide_forecasting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400" dirty="0">
              <a:solidFill>
                <a:schemeClr val="accent1"/>
              </a:solidFill>
            </a:endParaRPr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334672"/>
              </p:ext>
            </p:extLst>
          </p:nvPr>
        </p:nvGraphicFramePr>
        <p:xfrm>
          <a:off x="1423357" y="1351587"/>
          <a:ext cx="8333118" cy="2225273"/>
        </p:xfrm>
        <a:graphic>
          <a:graphicData uri="http://schemas.openxmlformats.org/drawingml/2006/table">
            <a:tbl>
              <a:tblPr/>
              <a:tblGrid>
                <a:gridCol w="11544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8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6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SEDD, SID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Emergency Department attempt data — State Emergency Department Databases (HCUP)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Inpatient attempt data — State Inpatient Databases (HCUP)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7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Violent death registry — National Violent Death Reporting System Restricted Access Dataset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Narrative text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NVDRS-RAD qualitative text narratives from original medical examiner, coroner, and law enforcement reports — provide critical context for mechanistic classification.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25553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Contextual predictors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76 contextual predictors assembled from 26 data sources across 4 domains: demographic/environmental, socioeconomic/structural, social/community, and individual-level risk factors. Includes Census, BRFSS, and other public-use sources.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D389-0BDB-4D07-90AB-244575E5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DFB77E-9FFF-33F5-2A56-65332878B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055813"/>
              </p:ext>
            </p:extLst>
          </p:nvPr>
        </p:nvGraphicFramePr>
        <p:xfrm>
          <a:off x="436971" y="954137"/>
          <a:ext cx="11318058" cy="5082064"/>
        </p:xfrm>
        <a:graphic>
          <a:graphicData uri="http://schemas.openxmlformats.org/drawingml/2006/table">
            <a:tbl>
              <a:tblPr/>
              <a:tblGrid>
                <a:gridCol w="1414757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4757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797885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259456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1215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1865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685687">
                <a:tc rowSpan="3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Demographic and environmental context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Demographics &amp; Population Dynamics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Population structure, age composition, migration patterns, and density affect both cluster visibility and contagion potential through community disruption and proximity.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 CEN;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ERS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2009-2024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Decade; Annually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0772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Environmental &amp; Temporal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Seasonal patterns, weather extremes, and natural disasters provide temporal triggers and chronic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NOAAC; NEPHTN; USGS; FEMA; USDA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1895-2025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Monthly; Annually; Daily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5024047"/>
                  </a:ext>
                </a:extLst>
              </a:tr>
              <a:tr h="35837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Isolation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Geographic remoteness affects contagion pathways while creating structural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CEN; ERS; NOAA; USDA; USGS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1985-2004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0136"/>
                  </a:ext>
                </a:extLst>
              </a:tr>
              <a:tr h="331100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2. Socioeconomic and structural conditions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Economic Indicators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Economic shocks provide temporal signals while chronic disadvantage creates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AHRF; Census; ACS; CCBP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1976-2005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66863"/>
                  </a:ext>
                </a:extLst>
              </a:tr>
              <a:tr h="412928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Institutional Environments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Schools and workplaces are common cluster sites, with resource stress indicating limited crisis response capacity.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 NCES; CCD; AHRQ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1987-2024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2783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Healthcare System Capacity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Healthcare infrastructure determines prevention capacity, crisis response effectiveness, and mental health provider density critical for intervention.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7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CHR; AHRF; 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2010-2025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1584435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Digital Connectivity &amp; Media Infrastructure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Internet access and broadband availability affect media-triggered contagion pathways and determine potential reach of prevention messaging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2013-2024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7751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A53B776F-B40B-974B-4957-2C790AB5DAE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58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25BE95-E7BD-4C9D-09EF-72836870E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735533"/>
              </p:ext>
            </p:extLst>
          </p:nvPr>
        </p:nvGraphicFramePr>
        <p:xfrm>
          <a:off x="426308" y="842925"/>
          <a:ext cx="11339384" cy="3738146"/>
        </p:xfrm>
        <a:graphic>
          <a:graphicData uri="http://schemas.openxmlformats.org/drawingml/2006/table">
            <a:tbl>
              <a:tblPr/>
              <a:tblGrid>
                <a:gridCol w="1417423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7423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975744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741872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155939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9841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3794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358376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3. Social and community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Capital &amp; Connectivity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Social networks have dual effects, providing protective support while facilitating contagion spread,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Penn Social Capital Index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1990-2014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Sporadic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309001"/>
                  </a:ext>
                </a:extLst>
              </a:tr>
              <a:tr h="303824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Community Stress &amp; Violence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Community violence exposure and crime rates indicate environmental stressors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UCR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1985-2005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County; State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400373"/>
                  </a:ext>
                </a:extLst>
              </a:tr>
              <a:tr h="385651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Fragmentation &amp; Stability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Housing instability, residential mobility, and family structure disruption signal social fragmentation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2010-2024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986166"/>
                  </a:ext>
                </a:extLst>
              </a:tr>
              <a:tr h="249272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Public Attention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High profile suicides and popular fictional </a:t>
                      </a:r>
                      <a:r>
                        <a:rPr lang="en-US" sz="1200" dirty="0" err="1">
                          <a:effectLst/>
                        </a:rPr>
                        <a:t>depections</a:t>
                      </a:r>
                      <a:r>
                        <a:rPr lang="en-US" sz="1200" dirty="0">
                          <a:effectLst/>
                        </a:rPr>
                        <a:t> of suicide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Google Trends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2004-2025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Designated Market Area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Monthly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54219"/>
                  </a:ext>
                </a:extLst>
              </a:tr>
              <a:tr h="549308">
                <a:tc rowSpan="2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4. Individual-level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Mental Health and Substance Use Environment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Population-level mental health burden and substance use patterns indicate baseline vulnerability and potential triggering factors for cluster emergence.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BRFSS; CHR; CDC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1999-2025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269021"/>
                  </a:ext>
                </a:extLst>
              </a:tr>
              <a:tr h="63113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Lethal Means &amp; Method Availability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Firearm access strongly predicts mortality and shapes cluster characteristics, with method availability distinguishing whether attempts result in deaths for early warning systems.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BATFE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2017-2025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County; Zip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773209"/>
                  </a:ext>
                </a:extLst>
              </a:tr>
            </a:tbl>
          </a:graphicData>
        </a:graphic>
      </p:graphicFrame>
      <p:sp>
        <p:nvSpPr>
          <p:cNvPr id="2" name="Text 0">
            <a:extLst>
              <a:ext uri="{FF2B5EF4-FFF2-40B4-BE49-F238E27FC236}">
                <a16:creationId xmlns:a16="http://schemas.microsoft.com/office/drawing/2014/main" id="{24094D53-86C2-767E-8CE3-143964F71AF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160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Work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Cluster Detection &amp; Spatial Analysis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830957"/>
              </p:ext>
            </p:extLst>
          </p:nvPr>
        </p:nvGraphicFramePr>
        <p:xfrm>
          <a:off x="1193205" y="1538557"/>
          <a:ext cx="9347031" cy="2088045"/>
        </p:xfrm>
        <a:graphic>
          <a:graphicData uri="http://schemas.openxmlformats.org/drawingml/2006/table">
            <a:tbl>
              <a:tblPr/>
              <a:tblGrid>
                <a:gridCol w="4231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1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250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2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Spatiotemporal Scan Statistics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Space-time cluster detection; SaTScan-style methods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Platt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Sy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Sursely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Growth Mixture Models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Trajectory-based clustering of county-level suicide rates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Keyes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90294"/>
            <a:ext cx="11777472" cy="7241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Forecasting System: Statistical, Machine Learning, Dynamical &amp; Multi-Model Ensemble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576411"/>
              </p:ext>
            </p:extLst>
          </p:nvPr>
        </p:nvGraphicFramePr>
        <p:xfrm>
          <a:off x="201168" y="1187484"/>
          <a:ext cx="11276275" cy="4968240"/>
        </p:xfrm>
        <a:graphic>
          <a:graphicData uri="http://schemas.openxmlformats.org/drawingml/2006/table">
            <a:tbl>
              <a:tblPr/>
              <a:tblGrid>
                <a:gridCol w="4709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69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94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8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Bayesian Hierarchical Model, </a:t>
                      </a:r>
                      <a:r>
                        <a:rPr lang="en-US" sz="1400" dirty="0"/>
                        <a:t>Statistical; county &amp; state-level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- </a:t>
                      </a: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Exponential smoothing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– temporal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- </a:t>
                      </a:r>
                      <a:r>
                        <a:rPr lang="en-US" sz="1400" b="1" dirty="0">
                          <a:solidFill>
                            <a:srgbClr val="7030A0"/>
                          </a:solidFill>
                        </a:rPr>
                        <a:t>ARIMA/transfer function </a:t>
                      </a:r>
                      <a:r>
                        <a:rPr lang="en-US" sz="1400" b="1" dirty="0"/>
                        <a:t>models  </a:t>
                      </a:r>
                      <a:r>
                        <a:rPr lang="en-US" sz="1400" dirty="0"/>
                        <a:t>- temporal</a:t>
                      </a:r>
                      <a:br>
                        <a:rPr lang="en-US" sz="1400" b="1" dirty="0">
                          <a:solidFill>
                            <a:schemeClr val="accent6"/>
                          </a:solidFill>
                        </a:rPr>
                      </a:br>
                      <a:r>
                        <a:rPr lang="en-US" sz="1400" b="1" dirty="0">
                          <a:solidFill>
                            <a:schemeClr val="accent4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400" b="1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Conditional Autoregressive (CAR) -</a:t>
                      </a:r>
                      <a:r>
                        <a:rPr lang="en-US" sz="1400" b="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ANOVA </a:t>
                      </a:r>
                      <a:r>
                        <a:rPr lang="en-US" sz="1400" b="0" dirty="0"/>
                        <a:t>- </a:t>
                      </a:r>
                      <a:r>
                        <a:rPr lang="en-US" sz="1400" dirty="0"/>
                        <a:t>spatiotemporal </a:t>
                      </a:r>
                      <a:br>
                        <a:rPr lang="en-US" sz="1400" dirty="0"/>
                      </a:br>
                      <a:endParaRPr lang="en-US" sz="1400" b="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(historical, lagged)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/ BRFSS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Daily weather / monthly unemployment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(2023)</a:t>
                      </a:r>
                      <a:r>
                        <a:rPr lang="en-US" sz="1200" dirty="0"/>
                        <a:t> — County-level suicide mortality modelling – </a:t>
                      </a:r>
                      <a:r>
                        <a:rPr lang="en-US" sz="1200" b="1" dirty="0"/>
                        <a:t>CAR/ANOVA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(2023b)</a:t>
                      </a:r>
                      <a:r>
                        <a:rPr lang="en-US" sz="1200" dirty="0"/>
                        <a:t> — Hindcasts and forecasts of suicide mortality -- </a:t>
                      </a:r>
                      <a:r>
                        <a:rPr lang="en-US" sz="1200" b="1" dirty="0"/>
                        <a:t>ARIMA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Gimbrone et al.</a:t>
                      </a:r>
                      <a:r>
                        <a:rPr lang="en-US" sz="1200" dirty="0"/>
                        <a:t> —</a:t>
                      </a:r>
                      <a:r>
                        <a:rPr lang="en-US" sz="1200" b="1" dirty="0"/>
                        <a:t>ARIMA/transfer function </a:t>
                      </a:r>
                      <a:r>
                        <a:rPr lang="en-US" sz="1200" dirty="0"/>
                        <a:t>models for suicide risk estimation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LightGBM</a:t>
                      </a:r>
                      <a:endParaRPr lang="en-US" sz="1400" dirty="0">
                        <a:solidFill>
                          <a:schemeClr val="accent6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Boosting Decision Tree; ML; time-series forecasting of attempt counts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 (ZIP, county, state scales)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 (weather, unemployment)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 et al.</a:t>
                      </a:r>
                      <a:r>
                        <a:rPr lang="en-US" sz="1200" dirty="0"/>
                        <a:t> — Demonstrated strong performance in time-series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6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Neural Networks (NN) 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Deep learning; quantile-based probabilistic forecasting; non-linear patterns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400" b="1" kern="1200" dirty="0" err="1">
                          <a:solidFill>
                            <a:schemeClr val="accent6"/>
                          </a:solidFill>
                          <a:latin typeface="+mn-lt"/>
                          <a:ea typeface="+mn-ea"/>
                          <a:cs typeface="+mn-cs"/>
                        </a:rPr>
                        <a:t>NHiTS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(Neural Hierarchical Interpolation for Time Series. similar to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N-BEATS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Santangelo et al.</a:t>
                      </a:r>
                      <a:r>
                        <a:rPr lang="en-US" sz="1200" dirty="0"/>
                        <a:t> — ML for infectious disease forecasting and non-linear relationships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Mathematical Contagion Model + EAKF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Dynamical systems; Bayesian data assimilation; real-time parameter optimization; epidemic-style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(assimilated)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 (assimilated)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Shaman et al. (2024)</a:t>
                      </a:r>
                      <a:r>
                        <a:rPr lang="en-US" sz="1200" dirty="0"/>
                        <a:t> — Prior structure simulating suicide ideation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56679"/>
                  </a:ext>
                </a:extLst>
              </a:tr>
              <a:tr h="6291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Multi-Model Ensemble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Combines outputs of statistical, LightGBM, NN, and dynamical models; corrects individual system biases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Outputs of models #3–6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SID-SEDD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Reich et al.</a:t>
                      </a:r>
                      <a:r>
                        <a:rPr lang="en-US" sz="1200" dirty="0"/>
                        <a:t> — Accuracy of real-time multi-model ensemble forecasts for seasonal influenza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77278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11C0C5-CDD6-FBE8-6B60-EE0191B4DAFC}"/>
              </a:ext>
            </a:extLst>
          </p:cNvPr>
          <p:cNvSpPr txBox="1"/>
          <p:nvPr/>
        </p:nvSpPr>
        <p:spPr>
          <a:xfrm>
            <a:off x="469556" y="6427022"/>
            <a:ext cx="21749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92D050"/>
                </a:solidFill>
              </a:rPr>
              <a:t>Available in </a:t>
            </a:r>
            <a:r>
              <a:rPr lang="en-US" sz="1400" b="1" dirty="0">
                <a:solidFill>
                  <a:srgbClr val="92D050"/>
                </a:solidFill>
                <a:hlinkClick r:id="rId10"/>
              </a:rPr>
              <a:t>Darts</a:t>
            </a:r>
            <a:r>
              <a:rPr lang="en-US" sz="1400" b="1" dirty="0">
                <a:solidFill>
                  <a:srgbClr val="92D050"/>
                </a:solidFill>
              </a:rPr>
              <a:t>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6D564-AC1C-6D7F-5693-26B48476D84F}"/>
              </a:ext>
            </a:extLst>
          </p:cNvPr>
          <p:cNvSpPr txBox="1"/>
          <p:nvPr/>
        </p:nvSpPr>
        <p:spPr>
          <a:xfrm>
            <a:off x="2644510" y="6427022"/>
            <a:ext cx="1965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Available in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1"/>
              </a:rPr>
              <a:t>Forecast</a:t>
            </a:r>
            <a:r>
              <a:rPr lang="en-US" sz="1400" b="1" dirty="0">
                <a:solidFill>
                  <a:srgbClr val="7030A0"/>
                </a:solidFill>
              </a:rPr>
              <a:t> (R)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BF9E-BA1B-3D44-AC56-51C3FB0BD284}"/>
              </a:ext>
            </a:extLst>
          </p:cNvPr>
          <p:cNvSpPr txBox="1"/>
          <p:nvPr/>
        </p:nvSpPr>
        <p:spPr>
          <a:xfrm>
            <a:off x="4542721" y="6427022"/>
            <a:ext cx="2249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Available in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2"/>
              </a:rPr>
              <a:t>CARBayesST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(R)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Natural Language Processing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757671"/>
              </p:ext>
            </p:extLst>
          </p:nvPr>
        </p:nvGraphicFramePr>
        <p:xfrm>
          <a:off x="201168" y="693214"/>
          <a:ext cx="11276275" cy="2717251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6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NLP: 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Topic Modeling &amp; Supervised Text Classifiers - </a:t>
                      </a:r>
                      <a:r>
                        <a:rPr lang="en-US" sz="1400" b="1" kern="1200" dirty="0" err="1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BioBERT</a:t>
                      </a:r>
                      <a:endParaRPr lang="en-US" sz="1400" b="1" kern="120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Extracts social isolation,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dirty="0"/>
                        <a:t>precipitating events, contagion markers from death narratives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Walker et al.</a:t>
                      </a:r>
                      <a:r>
                        <a:rPr lang="en-US" sz="1400" dirty="0"/>
                        <a:t> — Identifying social isolation themes in NVDRS text via topic modeling–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BERTopic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>
                          <a:hlinkClick r:id="rId4"/>
                        </a:rPr>
                        <a:t>https://maartengr.github.io/BERTopic/index.html</a:t>
                      </a:r>
                      <a:r>
                        <a:rPr lang="en-US" sz="1400" dirty="0"/>
                        <a:t> 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(2024)</a:t>
                      </a:r>
                      <a:r>
                        <a:rPr lang="en-US" sz="1400" dirty="0"/>
                        <a:t> — Detecting inconsistencies in death investigation notes- -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bioBERT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(2023)</a:t>
                      </a:r>
                      <a:r>
                        <a:rPr lang="en-US" sz="1400" dirty="0"/>
                        <a:t> — NLP to identify SDoH-related circumstances from death narratives </a:t>
                      </a:r>
                      <a:r>
                        <a:rPr lang="en-US" sz="1400" dirty="0">
                          <a:hlinkClick r:id="rId7"/>
                        </a:rPr>
                        <a:t>https://github.com/bionlplab/suicide_sdoh</a:t>
                      </a:r>
                      <a:r>
                        <a:rPr lang="en-US" sz="1400" dirty="0"/>
                        <a:t>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2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distilBERT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Transformer-based NLP; replicates annotations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Parker</a:t>
                      </a:r>
                      <a:r>
                        <a:rPr lang="en-US" sz="1400" dirty="0"/>
                        <a:t> — Supervised NLP classification of violent death narratives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Ranjit et al.</a:t>
                      </a:r>
                      <a:r>
                        <a:rPr lang="en-US" sz="1400" dirty="0"/>
                        <a:t> — LLM-assisted intervention opportunity identification for suicide prevention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EE362-68ED-3940-8F05-8D9303056209}"/>
              </a:ext>
            </a:extLst>
          </p:cNvPr>
          <p:cNvSpPr txBox="1"/>
          <p:nvPr/>
        </p:nvSpPr>
        <p:spPr>
          <a:xfrm>
            <a:off x="469556" y="6427022"/>
            <a:ext cx="4080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Available in </a:t>
            </a:r>
            <a:r>
              <a:rPr lang="en-US" sz="1400" b="1" dirty="0">
                <a:solidFill>
                  <a:srgbClr val="C00000"/>
                </a:solidFill>
                <a:hlinkClick r:id="rId10"/>
              </a:rPr>
              <a:t>Hugging Face – Transformers</a:t>
            </a:r>
            <a:r>
              <a:rPr lang="en-US" sz="1400" b="1" dirty="0">
                <a:solidFill>
                  <a:srgbClr val="C00000"/>
                </a:solidFill>
              </a:rPr>
              <a:t> (python)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ML Ensemble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507245"/>
              </p:ext>
            </p:extLst>
          </p:nvPr>
        </p:nvGraphicFramePr>
        <p:xfrm>
          <a:off x="201168" y="713232"/>
          <a:ext cx="11223266" cy="5895162"/>
        </p:xfrm>
        <a:graphic>
          <a:graphicData uri="http://schemas.openxmlformats.org/drawingml/2006/table">
            <a:tbl>
              <a:tblPr/>
              <a:tblGrid>
                <a:gridCol w="2860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Random Forest (RF)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Breiman's bootstrap aggregation; hyperparameter selection; classifies cluster mechanism types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Sanderson et al.</a:t>
                      </a:r>
                      <a:r>
                        <a:rPr lang="en-US" sz="1400" dirty="0"/>
                        <a:t> — Predicting suicide death following ED visit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Tran et al.</a:t>
                      </a:r>
                      <a:r>
                        <a:rPr lang="en-US" sz="1400" dirty="0"/>
                        <a:t> — Risk stratification from electronic medical records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Breiman</a:t>
                      </a:r>
                      <a:r>
                        <a:rPr lang="en-US" sz="1400" dirty="0"/>
                        <a:t> — Breiman's original random forests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92D050"/>
                          </a:solidFill>
                        </a:rPr>
                        <a:t>XGBoost</a:t>
                      </a:r>
                      <a:endParaRPr lang="en-US" sz="1400" dirty="0">
                        <a:solidFill>
                          <a:srgbClr val="92D050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tree boosting; scalable; classifies cluster mechanisms;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CatBoost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Categorical gradient boosting; handles mixed-type features;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Prokhorenkova et al.</a:t>
                      </a:r>
                      <a:r>
                        <a:rPr lang="en-US" sz="1400" dirty="0"/>
                        <a:t> — CatBoost original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022525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Weighted Ensemble (RF, XGBoost, CatBoost)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Final classifier; optimizes accuracy + interpretability; (</a:t>
                      </a:r>
                      <a:r>
                        <a:rPr lang="en-US" sz="1400" dirty="0" err="1"/>
                        <a:t>eg.</a:t>
                      </a:r>
                      <a:r>
                        <a:rPr lang="en-US" sz="1400" dirty="0"/>
                        <a:t> train 2000–2015, test 2016–2023)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36926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 Interpretability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44139"/>
              </p:ext>
            </p:extLst>
          </p:nvPr>
        </p:nvGraphicFramePr>
        <p:xfrm>
          <a:off x="201168" y="713232"/>
          <a:ext cx="11276275" cy="2490875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77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SHAP Values &amp; Gini Importance (</a:t>
                      </a:r>
                      <a:r>
                        <a:rPr lang="en-US" sz="1400" dirty="0"/>
                        <a:t>Mean Decrease in Impurity (MDI) for RF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Post-hoc feature attribution for tree-based models; identifies predictors differentiating contagion-driven vs. structural clusters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Applied to trained RF, XGBoost, CatBoost models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All predictors from NVDRS-RAD + contextual set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Akhtar et al.</a:t>
                      </a:r>
                      <a:r>
                        <a:rPr lang="en-US" sz="1400" dirty="0"/>
                        <a:t> — Interpretable ensemble ML for predicting inmate suicidal behavior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37A17B-2B97-E23C-2AAA-7FB3D80708C7}"/>
              </a:ext>
            </a:extLst>
          </p:cNvPr>
          <p:cNvSpPr txBox="1"/>
          <p:nvPr/>
        </p:nvSpPr>
        <p:spPr>
          <a:xfrm>
            <a:off x="560717" y="1655354"/>
            <a:ext cx="10694185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config/		# Model configs, hyperparameters, YAML files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data/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external/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processed/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   └── raw		# All data — this is gitignored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docs/		# Project documentation and data access instructions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notebooks/		# Exploratory and communicative work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src/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data		# Data import, cleaning, transform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dynamic/		# </a:t>
            </a:r>
            <a:r>
              <a:rPr lang="en-US" sz="1400" dirty="0">
                <a:solidFill>
                  <a:schemeClr val="accent2"/>
                </a:solidFill>
                <a:latin typeface="Andale Mono" panose="020B0509000000000004" pitchFamily="49" charset="0"/>
              </a:rPr>
              <a:t>Dynamic model of suicide contagion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ensemble/		# Multi-model combination logic; weighted averaging; scoring rules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ml/		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LightGBM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RF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XGBoost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CatBoost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NN training and evaluation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nlp/		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distilBERT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pipelines; NVDRS-RAD narrative processing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└── statistical/	# Bayesian hierarchical models: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Exponential Smoothing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ARIMA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CAR-ANOVA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└── tests/ </a:t>
            </a: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6FF3A345-E3F3-3CD0-B38A-E1DAFC222F81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https://github.com/MatteoPS/suicide_forecasting/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 structure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786B01-9FA1-5905-6DD6-E8F801D29848}"/>
              </a:ext>
            </a:extLst>
          </p:cNvPr>
          <p:cNvSpPr txBox="1"/>
          <p:nvPr/>
        </p:nvSpPr>
        <p:spPr>
          <a:xfrm>
            <a:off x="841350" y="5117987"/>
            <a:ext cx="211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MATLAB</a:t>
            </a: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rgbClr val="FFFF00"/>
                </a:solidFill>
              </a:rPr>
              <a:t>Python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310297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9866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1750</Words>
  <Application>Microsoft Macintosh PowerPoint</Application>
  <PresentationFormat>Widescreen</PresentationFormat>
  <Paragraphs>247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Andale Mono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Analytical Models &amp; Data Sources</dc:title>
  <dc:subject>PptxGenJS Presentation</dc:subject>
  <dc:creator>PptxGenJS</dc:creator>
  <cp:lastModifiedBy>Matteo Perini</cp:lastModifiedBy>
  <cp:revision>18</cp:revision>
  <dcterms:created xsi:type="dcterms:W3CDTF">2026-06-08T19:27:39Z</dcterms:created>
  <dcterms:modified xsi:type="dcterms:W3CDTF">2026-06-09T21:44:16Z</dcterms:modified>
</cp:coreProperties>
</file>