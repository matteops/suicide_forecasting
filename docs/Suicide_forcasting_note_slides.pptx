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7" r:id="rId2"/>
    <p:sldId id="266" r:id="rId3"/>
    <p:sldId id="265" r:id="rId4"/>
    <p:sldId id="258" r:id="rId5"/>
    <p:sldId id="259" r:id="rId6"/>
    <p:sldId id="261" r:id="rId7"/>
    <p:sldId id="262" r:id="rId8"/>
    <p:sldId id="264" r:id="rId9"/>
    <p:sldId id="267" r:id="rId10"/>
    <p:sldId id="268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144"/>
    <p:restoredTop sz="94610"/>
  </p:normalViewPr>
  <p:slideViewPr>
    <p:cSldViewPr snapToGrid="0" snapToObjects="1">
      <p:cViewPr varScale="1">
        <p:scale>
          <a:sx n="148" d="100"/>
          <a:sy n="148" d="100"/>
        </p:scale>
        <p:origin x="77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46140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16/j.jaac.2021.12.012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oi.org/10.1093/aje/kwad205" TargetMode="External"/><Relationship Id="rId5" Type="http://schemas.openxmlformats.org/officeDocument/2006/relationships/hyperlink" Target="https://doi.org/10.1016/j.ssmph.2025.101866" TargetMode="External"/><Relationship Id="rId4" Type="http://schemas.openxmlformats.org/officeDocument/2006/relationships/hyperlink" Target="https://doi.org/10.1007/S00127-019-01736-4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doi.org/10.1126/sciadv.adq4074" TargetMode="External"/><Relationship Id="rId3" Type="http://schemas.openxmlformats.org/officeDocument/2006/relationships/hyperlink" Target="https://doi.org/10.1016/S2468-2667(22)00290-0" TargetMode="External"/><Relationship Id="rId7" Type="http://schemas.openxmlformats.org/officeDocument/2006/relationships/hyperlink" Target="https://doi.org/10.3390/make5010013" TargetMode="External"/><Relationship Id="rId12" Type="http://schemas.openxmlformats.org/officeDocument/2006/relationships/hyperlink" Target="https://cran.r-project.org/web/packages/CARBayesST/index.htm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Microsoft/LightGBM" TargetMode="External"/><Relationship Id="rId11" Type="http://schemas.openxmlformats.org/officeDocument/2006/relationships/hyperlink" Target="https://pkg.robjhyndman.com/forecast/reference/auto.arima.html" TargetMode="External"/><Relationship Id="rId5" Type="http://schemas.openxmlformats.org/officeDocument/2006/relationships/hyperlink" Target="https://doi.org/10.1371/journal.pone.0260931" TargetMode="External"/><Relationship Id="rId10" Type="http://schemas.openxmlformats.org/officeDocument/2006/relationships/hyperlink" Target="https://unit8co.github.io/darts/" TargetMode="External"/><Relationship Id="rId4" Type="http://schemas.openxmlformats.org/officeDocument/2006/relationships/hyperlink" Target="https://doi.org/10.1371/journal.pcbi.1010945" TargetMode="External"/><Relationship Id="rId9" Type="http://schemas.openxmlformats.org/officeDocument/2006/relationships/hyperlink" Target="https://doi.org/10.1371/journal.pcbi.1007486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doi.org/10.2196/68212" TargetMode="External"/><Relationship Id="rId3" Type="http://schemas.openxmlformats.org/officeDocument/2006/relationships/hyperlink" Target="https://arxiv.org/pdf/2506.15030" TargetMode="External"/><Relationship Id="rId7" Type="http://schemas.openxmlformats.org/officeDocument/2006/relationships/hyperlink" Target="https://github.com/bionlplab/suicide_sdoh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oi.org/10.1093/jamia/ocad068" TargetMode="External"/><Relationship Id="rId5" Type="http://schemas.openxmlformats.org/officeDocument/2006/relationships/hyperlink" Target="https://doi.org/10.1038/s43856-024-00631-7" TargetMode="External"/><Relationship Id="rId10" Type="http://schemas.openxmlformats.org/officeDocument/2006/relationships/hyperlink" Target="https://huggingface.co/docs/transformers/v5.10.2/en/model_doc/distilbert" TargetMode="External"/><Relationship Id="rId4" Type="http://schemas.openxmlformats.org/officeDocument/2006/relationships/hyperlink" Target="https://maartengr.github.io/BERTopic/index.html" TargetMode="External"/><Relationship Id="rId9" Type="http://schemas.openxmlformats.org/officeDocument/2006/relationships/hyperlink" Target="https://arxiv.org/abs/2508.18541" TargetMode="Externa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doi.org/10.1186/S12911-024-02524-0" TargetMode="External"/><Relationship Id="rId3" Type="http://schemas.openxmlformats.org/officeDocument/2006/relationships/hyperlink" Target="https://doi.org/10.1016/j.eclinm.2020.100281" TargetMode="External"/><Relationship Id="rId7" Type="http://schemas.openxmlformats.org/officeDocument/2006/relationships/hyperlink" Target="https://doi.org/10.3389/fpsyt.2024.1291362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oi.org/10.1016/j.jad.2018.11.073" TargetMode="External"/><Relationship Id="rId11" Type="http://schemas.openxmlformats.org/officeDocument/2006/relationships/hyperlink" Target="https://doi.org/10.48550/arXiv.1810.11363" TargetMode="External"/><Relationship Id="rId5" Type="http://schemas.openxmlformats.org/officeDocument/2006/relationships/hyperlink" Target="https://doi.org/10.3390/ijerph17165929" TargetMode="External"/><Relationship Id="rId10" Type="http://schemas.openxmlformats.org/officeDocument/2006/relationships/hyperlink" Target="https://doi.org/10.1145/2939672.2939785" TargetMode="External"/><Relationship Id="rId4" Type="http://schemas.openxmlformats.org/officeDocument/2006/relationships/hyperlink" Target="https://doi.org/10.1186/1471-244X-14-76" TargetMode="External"/><Relationship Id="rId9" Type="http://schemas.openxmlformats.org/officeDocument/2006/relationships/hyperlink" Target="https://doi.org/10.1023/A:1010933404324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7717/peerj-cs.2051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atteoPS/suicide_forecasting/" TargetMode="Externa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</a:t>
            </a:r>
            <a:endParaRPr lang="en-US" sz="2400" dirty="0">
              <a:solidFill>
                <a:schemeClr val="accent1"/>
              </a:solidFill>
            </a:endParaRPr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4334672"/>
              </p:ext>
            </p:extLst>
          </p:nvPr>
        </p:nvGraphicFramePr>
        <p:xfrm>
          <a:off x="1423357" y="1351587"/>
          <a:ext cx="8333118" cy="2225273"/>
        </p:xfrm>
        <a:graphic>
          <a:graphicData uri="http://schemas.openxmlformats.org/drawingml/2006/table">
            <a:tbl>
              <a:tblPr/>
              <a:tblGrid>
                <a:gridCol w="11544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786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563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SEDD, SID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Emergency Department attempt data — State Emergency Department Databases (HCUP)</a:t>
                      </a:r>
                      <a:br>
                        <a:rPr lang="en-US" sz="1400" dirty="0">
                          <a:solidFill>
                            <a:srgbClr val="000000"/>
                          </a:solidFill>
                        </a:rPr>
                      </a:b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Inpatient attempt data — State Inpatient Databases (HCUP)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70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NVDRS-RAD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Violent death registry — National Violent Death Reporting System Restricted Access Dataset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NVDRS-RAD</a:t>
                      </a:r>
                      <a:endParaRPr lang="en-US" sz="1400" dirty="0"/>
                    </a:p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Narrative text</a:t>
                      </a: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NVDRS-RAD qualitative text narratives from original medical examiner, coroner, and law enforcement reports — provide critical context for mechanistic classification.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525553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Contextual predictors</a:t>
                      </a: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76 contextual predictors assembled from 26 data sources across 4 domains: demographic/environmental, socioeconomic/structural, social/community, and individual-level risk factors. Includes Census, BRFSS, and other public-use sources.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3D389-0BDB-4D07-90AB-244575E51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0DFB77E-9FFF-33F5-2A56-65332878B6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2055813"/>
              </p:ext>
            </p:extLst>
          </p:nvPr>
        </p:nvGraphicFramePr>
        <p:xfrm>
          <a:off x="436971" y="954137"/>
          <a:ext cx="11318058" cy="5082064"/>
        </p:xfrm>
        <a:graphic>
          <a:graphicData uri="http://schemas.openxmlformats.org/drawingml/2006/table">
            <a:tbl>
              <a:tblPr/>
              <a:tblGrid>
                <a:gridCol w="1414757">
                  <a:extLst>
                    <a:ext uri="{9D8B030D-6E8A-4147-A177-3AD203B41FA5}">
                      <a16:colId xmlns:a16="http://schemas.microsoft.com/office/drawing/2014/main" val="524235923"/>
                    </a:ext>
                  </a:extLst>
                </a:gridCol>
                <a:gridCol w="1414757">
                  <a:extLst>
                    <a:ext uri="{9D8B030D-6E8A-4147-A177-3AD203B41FA5}">
                      <a16:colId xmlns:a16="http://schemas.microsoft.com/office/drawing/2014/main" val="759385765"/>
                    </a:ext>
                  </a:extLst>
                </a:gridCol>
                <a:gridCol w="2797885">
                  <a:extLst>
                    <a:ext uri="{9D8B030D-6E8A-4147-A177-3AD203B41FA5}">
                      <a16:colId xmlns:a16="http://schemas.microsoft.com/office/drawing/2014/main" val="1175574609"/>
                    </a:ext>
                  </a:extLst>
                </a:gridCol>
                <a:gridCol w="828136">
                  <a:extLst>
                    <a:ext uri="{9D8B030D-6E8A-4147-A177-3AD203B41FA5}">
                      <a16:colId xmlns:a16="http://schemas.microsoft.com/office/drawing/2014/main" val="21364455"/>
                    </a:ext>
                  </a:extLst>
                </a:gridCol>
                <a:gridCol w="1259456">
                  <a:extLst>
                    <a:ext uri="{9D8B030D-6E8A-4147-A177-3AD203B41FA5}">
                      <a16:colId xmlns:a16="http://schemas.microsoft.com/office/drawing/2014/main" val="2372185363"/>
                    </a:ext>
                  </a:extLst>
                </a:gridCol>
                <a:gridCol w="1173193">
                  <a:extLst>
                    <a:ext uri="{9D8B030D-6E8A-4147-A177-3AD203B41FA5}">
                      <a16:colId xmlns:a16="http://schemas.microsoft.com/office/drawing/2014/main" val="2570068819"/>
                    </a:ext>
                  </a:extLst>
                </a:gridCol>
                <a:gridCol w="1311215">
                  <a:extLst>
                    <a:ext uri="{9D8B030D-6E8A-4147-A177-3AD203B41FA5}">
                      <a16:colId xmlns:a16="http://schemas.microsoft.com/office/drawing/2014/main" val="988873422"/>
                    </a:ext>
                  </a:extLst>
                </a:gridCol>
                <a:gridCol w="1118659">
                  <a:extLst>
                    <a:ext uri="{9D8B030D-6E8A-4147-A177-3AD203B41FA5}">
                      <a16:colId xmlns:a16="http://schemas.microsoft.com/office/drawing/2014/main" val="542937203"/>
                    </a:ext>
                  </a:extLst>
                </a:gridCol>
              </a:tblGrid>
              <a:tr h="8561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Domain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Sub-domains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Rationale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>
                          <a:effectLst/>
                        </a:rPr>
                        <a:t>Variables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Data Sources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Years available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Geographic levels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Temporal units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6978213"/>
                  </a:ext>
                </a:extLst>
              </a:tr>
              <a:tr h="685687">
                <a:tc rowSpan="3"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Demographic and environmental context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Demographics &amp; Population Dynamics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Population structure, age composition, migration patterns, and density affect both cluster visibility and contagion potential through community disruption and proximity.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9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ACS;</a:t>
                      </a:r>
                      <a:br>
                        <a:rPr lang="en-US" sz="1400" dirty="0">
                          <a:effectLst/>
                        </a:rPr>
                      </a:br>
                      <a:r>
                        <a:rPr lang="en-US" sz="1400" dirty="0">
                          <a:effectLst/>
                        </a:rPr>
                        <a:t> CEN; </a:t>
                      </a:r>
                      <a:br>
                        <a:rPr lang="en-US" sz="1400" dirty="0">
                          <a:effectLst/>
                        </a:rPr>
                      </a:br>
                      <a:r>
                        <a:rPr lang="en-US" sz="1400" dirty="0">
                          <a:effectLst/>
                        </a:rPr>
                        <a:t>ERS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2009-2024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State, County, Zip, Census Tract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Decade; Annually</a:t>
                      </a:r>
                    </a:p>
                  </a:txBody>
                  <a:tcPr marL="0" marR="0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207726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099" marR="2099" marT="1399" marB="1399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Environmental &amp; Temporal Factors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Seasonal patterns, weather extremes, and natural disasters provide temporal triggers and chronic risk factors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9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NOAAC; NEPHTN; USGS; FEMA; USDA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1895-2025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State, County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Static; Monthly; Annually; Daily</a:t>
                      </a:r>
                    </a:p>
                  </a:txBody>
                  <a:tcPr marL="0" marR="0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5024047"/>
                  </a:ext>
                </a:extLst>
              </a:tr>
              <a:tr h="358376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099" marR="2099" marT="1399" marB="1399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Geographic Isolation &amp; Access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Geographic remoteness affects contagion pathways while creating structural vulnerability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6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CEN; ERS; NOAA; USDA; USGS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1985-2004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State, County, Zip, Census Tract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Static; annually; sporadic</a:t>
                      </a:r>
                    </a:p>
                  </a:txBody>
                  <a:tcPr marL="0" marR="0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6790136"/>
                  </a:ext>
                </a:extLst>
              </a:tr>
              <a:tr h="331100">
                <a:tc rowSpan="4"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2. Socioeconomic and structural conditions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Economic Indicators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Economic shocks provide temporal signals while chronic disadvantage creates vulnerability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15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AHRF; Census; ACS; CCBP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1976-2005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State, County, Zip, Census Tract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Annually; sporadic; monthly</a:t>
                      </a:r>
                    </a:p>
                  </a:txBody>
                  <a:tcPr marL="0" marR="0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3566863"/>
                  </a:ext>
                </a:extLst>
              </a:tr>
              <a:tr h="412928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>
                        <a:effectLst/>
                      </a:endParaRPr>
                    </a:p>
                  </a:txBody>
                  <a:tcPr marL="2099" marR="2099" marT="1399" marB="1399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Institutional Environments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Schools and workplaces are common cluster sites, with resource stress indicating limited crisis response capacity.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ACS; NCES; CCD; AHRQ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1987-2024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State, County, Zip, Census Tract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Annually; sporadic</a:t>
                      </a:r>
                    </a:p>
                  </a:txBody>
                  <a:tcPr marL="0" marR="0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732783"/>
                  </a:ext>
                </a:extLst>
              </a:tr>
              <a:tr h="576583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>
                        <a:effectLst/>
                      </a:endParaRPr>
                    </a:p>
                  </a:txBody>
                  <a:tcPr marL="2099" marR="2099" marT="1399" marB="1399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Healthcare System Capacity &amp; Access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Healthcare infrastructure determines prevention capacity, crisis response effectiveness, and mental health provider density critical for intervention.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7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CHR; AHRF; ACS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2010-2025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State, County, Zip, Census Tract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Annually; sporadic</a:t>
                      </a:r>
                    </a:p>
                  </a:txBody>
                  <a:tcPr marL="0" marR="0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1584435"/>
                  </a:ext>
                </a:extLst>
              </a:tr>
              <a:tr h="576583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099" marR="2099" marT="1399" marB="1399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Digital Connectivity &amp; Media Infrastructure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Internet access and broadband availability affect media-triggered contagion pathways and determine potential reach of prevention messaging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3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ACS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2013-2024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State, County, Zip, Census Tract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Annually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1877515"/>
                  </a:ext>
                </a:extLst>
              </a:tr>
            </a:tbl>
          </a:graphicData>
        </a:graphic>
      </p:graphicFrame>
      <p:sp>
        <p:nvSpPr>
          <p:cNvPr id="6" name="Text 0">
            <a:extLst>
              <a:ext uri="{FF2B5EF4-FFF2-40B4-BE49-F238E27FC236}">
                <a16:creationId xmlns:a16="http://schemas.microsoft.com/office/drawing/2014/main" id="{A53B776F-B40B-974B-4957-2C790AB5DAEC}"/>
              </a:ext>
            </a:extLst>
          </p:cNvPr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kern="0" dirty="0">
                <a:solidFill>
                  <a:srgbClr val="000000"/>
                </a:solidFill>
                <a:ea typeface="Times New Roman" panose="02020603050405020304" pitchFamily="18" charset="0"/>
              </a:rPr>
              <a:t>contextual predictor variables 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13581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A25BE95-E7BD-4C9D-09EF-72836870E6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0735533"/>
              </p:ext>
            </p:extLst>
          </p:nvPr>
        </p:nvGraphicFramePr>
        <p:xfrm>
          <a:off x="426308" y="842925"/>
          <a:ext cx="11339384" cy="3738146"/>
        </p:xfrm>
        <a:graphic>
          <a:graphicData uri="http://schemas.openxmlformats.org/drawingml/2006/table">
            <a:tbl>
              <a:tblPr/>
              <a:tblGrid>
                <a:gridCol w="1417423">
                  <a:extLst>
                    <a:ext uri="{9D8B030D-6E8A-4147-A177-3AD203B41FA5}">
                      <a16:colId xmlns:a16="http://schemas.microsoft.com/office/drawing/2014/main" val="524235923"/>
                    </a:ext>
                  </a:extLst>
                </a:gridCol>
                <a:gridCol w="1417423">
                  <a:extLst>
                    <a:ext uri="{9D8B030D-6E8A-4147-A177-3AD203B41FA5}">
                      <a16:colId xmlns:a16="http://schemas.microsoft.com/office/drawing/2014/main" val="759385765"/>
                    </a:ext>
                  </a:extLst>
                </a:gridCol>
                <a:gridCol w="2975744">
                  <a:extLst>
                    <a:ext uri="{9D8B030D-6E8A-4147-A177-3AD203B41FA5}">
                      <a16:colId xmlns:a16="http://schemas.microsoft.com/office/drawing/2014/main" val="1175574609"/>
                    </a:ext>
                  </a:extLst>
                </a:gridCol>
                <a:gridCol w="741872">
                  <a:extLst>
                    <a:ext uri="{9D8B030D-6E8A-4147-A177-3AD203B41FA5}">
                      <a16:colId xmlns:a16="http://schemas.microsoft.com/office/drawing/2014/main" val="21364455"/>
                    </a:ext>
                  </a:extLst>
                </a:gridCol>
                <a:gridCol w="1155939">
                  <a:extLst>
                    <a:ext uri="{9D8B030D-6E8A-4147-A177-3AD203B41FA5}">
                      <a16:colId xmlns:a16="http://schemas.microsoft.com/office/drawing/2014/main" val="2372185363"/>
                    </a:ext>
                  </a:extLst>
                </a:gridCol>
                <a:gridCol w="1173193">
                  <a:extLst>
                    <a:ext uri="{9D8B030D-6E8A-4147-A177-3AD203B41FA5}">
                      <a16:colId xmlns:a16="http://schemas.microsoft.com/office/drawing/2014/main" val="2570068819"/>
                    </a:ext>
                  </a:extLst>
                </a:gridCol>
                <a:gridCol w="1319841">
                  <a:extLst>
                    <a:ext uri="{9D8B030D-6E8A-4147-A177-3AD203B41FA5}">
                      <a16:colId xmlns:a16="http://schemas.microsoft.com/office/drawing/2014/main" val="988873422"/>
                    </a:ext>
                  </a:extLst>
                </a:gridCol>
                <a:gridCol w="1137949">
                  <a:extLst>
                    <a:ext uri="{9D8B030D-6E8A-4147-A177-3AD203B41FA5}">
                      <a16:colId xmlns:a16="http://schemas.microsoft.com/office/drawing/2014/main" val="542937203"/>
                    </a:ext>
                  </a:extLst>
                </a:gridCol>
              </a:tblGrid>
              <a:tr h="8561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Domain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>
                          <a:effectLst/>
                        </a:rPr>
                        <a:t>Sub-domains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Rationale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>
                          <a:effectLst/>
                        </a:rPr>
                        <a:t>Variables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Data Sources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Years available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Geographic levels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Temporal units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6978213"/>
                  </a:ext>
                </a:extLst>
              </a:tr>
              <a:tr h="358376">
                <a:tc rowSpan="4"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3. Social and community factors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Social Capital &amp; Connectivity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Social networks have dual effects, providing protective support while facilitating contagion spread,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Penn Social Capital Index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1990-2014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County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Sporadic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8309001"/>
                  </a:ext>
                </a:extLst>
              </a:tr>
              <a:tr h="303824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099" marR="2099" marT="1399" marB="13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>
                          <a:effectLst/>
                        </a:rPr>
                        <a:t>Community Stress &amp; Violence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Community violence exposure and crime rates indicate environmental stressors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3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CHR; UCR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1985-2005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County; State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Annually; monthly</a:t>
                      </a:r>
                    </a:p>
                  </a:txBody>
                  <a:tcPr marL="0" marR="0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6400373"/>
                  </a:ext>
                </a:extLst>
              </a:tr>
              <a:tr h="385651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099" marR="2099" marT="1399" marB="13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Social Fragmentation &amp; Stability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Housing instability, residential mobility, and family structure disruption signal social fragmentation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ACS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2010-2024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State, County, Zip, Census Tract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Annually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5986166"/>
                  </a:ext>
                </a:extLst>
              </a:tr>
              <a:tr h="249272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099" marR="2099" marT="1399" marB="13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Public Attention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High profile suicides and popular fictional </a:t>
                      </a:r>
                      <a:r>
                        <a:rPr lang="en-US" sz="1200" dirty="0" err="1">
                          <a:effectLst/>
                        </a:rPr>
                        <a:t>depections</a:t>
                      </a:r>
                      <a:r>
                        <a:rPr lang="en-US" sz="1200" dirty="0">
                          <a:effectLst/>
                        </a:rPr>
                        <a:t> of suicide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Google Trends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2004-2025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Designated Market Area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Monthly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054219"/>
                  </a:ext>
                </a:extLst>
              </a:tr>
              <a:tr h="549308">
                <a:tc rowSpan="2"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4. Individual-level risk factors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Mental Health and Substance Use Environment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Population-level mental health burden and substance use patterns indicate baseline vulnerability and potential triggering factors for cluster emergence.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BRFSS; CHR; CDC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1999-2025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State; County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Annually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6269021"/>
                  </a:ext>
                </a:extLst>
              </a:tr>
              <a:tr h="631136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099" marR="2099" marT="1399" marB="13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Lethal Means &amp; Method Availability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Firearm access strongly predicts mortality and shapes cluster characteristics, with method availability distinguishing whether attempts result in deaths for early warning systems.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2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CHR; BATFE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2017-2025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State; County; Zip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Annually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4773209"/>
                  </a:ext>
                </a:extLst>
              </a:tr>
            </a:tbl>
          </a:graphicData>
        </a:graphic>
      </p:graphicFrame>
      <p:sp>
        <p:nvSpPr>
          <p:cNvPr id="2" name="Text 0">
            <a:extLst>
              <a:ext uri="{FF2B5EF4-FFF2-40B4-BE49-F238E27FC236}">
                <a16:creationId xmlns:a16="http://schemas.microsoft.com/office/drawing/2014/main" id="{24094D53-86C2-767E-8CE3-143964F71AFC}"/>
              </a:ext>
            </a:extLst>
          </p:cNvPr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kern="0" dirty="0">
                <a:solidFill>
                  <a:srgbClr val="000000"/>
                </a:solidFill>
                <a:ea typeface="Times New Roman" panose="02020603050405020304" pitchFamily="18" charset="0"/>
              </a:rPr>
              <a:t>contextual predictor variables 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0516056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u="sng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Work </a:t>
            </a: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Cluster Detection &amp; Spatial Analysis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5830957"/>
              </p:ext>
            </p:extLst>
          </p:nvPr>
        </p:nvGraphicFramePr>
        <p:xfrm>
          <a:off x="1193205" y="1538557"/>
          <a:ext cx="9347031" cy="2088045"/>
        </p:xfrm>
        <a:graphic>
          <a:graphicData uri="http://schemas.openxmlformats.org/drawingml/2006/table">
            <a:tbl>
              <a:tblPr/>
              <a:tblGrid>
                <a:gridCol w="42316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319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34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3250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Analysis / Model Type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Datasets Required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Citations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52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Spatiotemporal Scan Statistics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Space-time cluster detection; SaTScan-style methods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SEDD-SID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NVDRS-RAD / Death certificates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Census denominators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Platt et al.</a:t>
                      </a:r>
                      <a:r>
                        <a:rPr lang="en-US" sz="1400" dirty="0"/>
                        <a:t>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Sy et al.</a:t>
                      </a:r>
                      <a:r>
                        <a:rPr lang="en-US" sz="1400" dirty="0"/>
                        <a:t>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Sursely et al.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4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Growth Mixture Models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Trajectory-based clustering of county-level suicide rates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NVDRS-RAD / Death certificates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Census denominators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Keyes et al.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190294"/>
            <a:ext cx="11777472" cy="7241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b="1" u="sng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1 </a:t>
            </a: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Forecasting System: Statistical, Machine Learning, Dynamical &amp; Multi-Model Ensemble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9576411"/>
              </p:ext>
            </p:extLst>
          </p:nvPr>
        </p:nvGraphicFramePr>
        <p:xfrm>
          <a:off x="201168" y="1187484"/>
          <a:ext cx="11276275" cy="4968240"/>
        </p:xfrm>
        <a:graphic>
          <a:graphicData uri="http://schemas.openxmlformats.org/drawingml/2006/table">
            <a:tbl>
              <a:tblPr/>
              <a:tblGrid>
                <a:gridCol w="47098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969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694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37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Analysis / Model Type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Datasets Required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Citations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318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/>
                        <a:t>Bayesian Hierarchical Model, </a:t>
                      </a:r>
                      <a:r>
                        <a:rPr lang="en-US" sz="1400" dirty="0"/>
                        <a:t>Statistical; county &amp; state-level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- </a:t>
                      </a: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Exponential smoothing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– temporal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/>
                        <a:t>- </a:t>
                      </a:r>
                      <a:r>
                        <a:rPr lang="en-US" sz="1400" b="1" dirty="0">
                          <a:solidFill>
                            <a:srgbClr val="7030A0"/>
                          </a:solidFill>
                        </a:rPr>
                        <a:t>ARIMA/transfer function </a:t>
                      </a:r>
                      <a:r>
                        <a:rPr lang="en-US" sz="1400" b="1" dirty="0"/>
                        <a:t>models  </a:t>
                      </a:r>
                      <a:r>
                        <a:rPr lang="en-US" sz="1400" dirty="0"/>
                        <a:t>- temporal</a:t>
                      </a:r>
                      <a:br>
                        <a:rPr lang="en-US" sz="1400" b="1" dirty="0">
                          <a:solidFill>
                            <a:schemeClr val="accent6"/>
                          </a:solidFill>
                        </a:rPr>
                      </a:br>
                      <a:r>
                        <a:rPr lang="en-US" sz="1400" b="1" dirty="0">
                          <a:solidFill>
                            <a:schemeClr val="accent4">
                              <a:lumMod val="50000"/>
                            </a:schemeClr>
                          </a:solidFill>
                        </a:rPr>
                        <a:t>- </a:t>
                      </a:r>
                      <a:r>
                        <a:rPr lang="en-US" sz="1400" b="1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Conditional Autoregressive (CAR) -</a:t>
                      </a:r>
                      <a:r>
                        <a:rPr lang="en-US" sz="1400" b="0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 </a:t>
                      </a:r>
                      <a:r>
                        <a:rPr lang="en-US" sz="1400" b="1" kern="1200" dirty="0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ANOVA </a:t>
                      </a:r>
                      <a:r>
                        <a:rPr lang="en-US" sz="1400" b="0" dirty="0"/>
                        <a:t>- </a:t>
                      </a:r>
                      <a:r>
                        <a:rPr lang="en-US" sz="1400" dirty="0"/>
                        <a:t>spatiotemporal </a:t>
                      </a:r>
                      <a:br>
                        <a:rPr lang="en-US" sz="1400" dirty="0"/>
                      </a:br>
                      <a:endParaRPr lang="en-US" sz="1400" b="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SEDD -SID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NVDRS-RAD (historical, lagged)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Census / BRFSS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Daily weather / monthly unemployment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u="sng" dirty="0">
                          <a:solidFill>
                            <a:srgbClr val="0563C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Kandula et al. (2023)</a:t>
                      </a:r>
                      <a:r>
                        <a:rPr lang="en-US" sz="1200" dirty="0"/>
                        <a:t> — County-level suicide mortality modelling – </a:t>
                      </a:r>
                      <a:r>
                        <a:rPr lang="en-US" sz="1200" b="1" dirty="0"/>
                        <a:t>CAR/ANOVA</a:t>
                      </a:r>
                      <a:r>
                        <a:rPr lang="en-US" sz="1200" dirty="0"/>
                        <a:t>
</a:t>
                      </a:r>
                      <a:r>
                        <a:rPr lang="en-US" sz="1200" u="sng" dirty="0">
                          <a:solidFill>
                            <a:srgbClr val="0563C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Kandula et al. (2023b)</a:t>
                      </a:r>
                      <a:r>
                        <a:rPr lang="en-US" sz="1200" dirty="0"/>
                        <a:t> — Hindcasts and forecasts of suicide mortality -- </a:t>
                      </a:r>
                      <a:r>
                        <a:rPr lang="en-US" sz="1200" b="1" dirty="0"/>
                        <a:t>ARIMA</a:t>
                      </a:r>
                      <a:r>
                        <a:rPr lang="en-US" sz="1200" dirty="0"/>
                        <a:t>
</a:t>
                      </a:r>
                      <a:r>
                        <a:rPr lang="en-US" sz="1200" u="sng" dirty="0">
                          <a:solidFill>
                            <a:srgbClr val="0563C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Gimbrone et al.</a:t>
                      </a:r>
                      <a:r>
                        <a:rPr lang="en-US" sz="1200" dirty="0"/>
                        <a:t> —</a:t>
                      </a:r>
                      <a:r>
                        <a:rPr lang="en-US" sz="1200" b="1" dirty="0"/>
                        <a:t>ARIMA/transfer function </a:t>
                      </a:r>
                      <a:r>
                        <a:rPr lang="en-US" sz="1200" dirty="0"/>
                        <a:t>models for suicide risk estimation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366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LightGBM</a:t>
                      </a:r>
                      <a:endParaRPr lang="en-US" sz="1400" dirty="0">
                        <a:solidFill>
                          <a:schemeClr val="accent6"/>
                        </a:solidFill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Gradient Boosting Decision Tree; ML; time-series forecasting of attempt counts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SEDD - SID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 (ZIP, county, state scales)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High-freq dynamic predictors (weather, unemployment)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u="sng" dirty="0">
                          <a:solidFill>
                            <a:srgbClr val="0563C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Ke et al.</a:t>
                      </a:r>
                      <a:r>
                        <a:rPr lang="en-US" sz="1200" dirty="0"/>
                        <a:t> — Demonstrated strong performance in time-series forecasting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86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Neural Networks (NN) 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Deep learning; quantile-based probabilistic forecasting; non-linear patterns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400" b="1" kern="1200" dirty="0" err="1">
                          <a:solidFill>
                            <a:schemeClr val="accent6"/>
                          </a:solidFill>
                          <a:latin typeface="+mn-lt"/>
                          <a:ea typeface="+mn-ea"/>
                          <a:cs typeface="+mn-cs"/>
                        </a:rPr>
                        <a:t>NHiTS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(Neural Hierarchical Interpolation for Time Series. similar to</a:t>
                      </a:r>
                      <a:r>
                        <a:rPr lang="en-US" sz="14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N-BEATS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SEDD - SID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High-freq dynamic predictors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u="sng" dirty="0">
                          <a:solidFill>
                            <a:srgbClr val="0563C1"/>
                          </a:solidFill>
                          <a:hlinkClick r:id="rId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Santangelo et al.</a:t>
                      </a:r>
                      <a:r>
                        <a:rPr lang="en-US" sz="1200" dirty="0"/>
                        <a:t> — ML for infectious disease forecasting and non-linear relationships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807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Mathematical Contagion Model + EAKF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Dynamical systems; Bayesian data assimilation; real-time parameter optimization; epidemic-style forecasting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SEDD (assimilated)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SID (assimilated)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u="sng" dirty="0">
                          <a:solidFill>
                            <a:srgbClr val="0563C1"/>
                          </a:solidFill>
                          <a:hlinkClick r:id="rId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Shaman et al. (2024)</a:t>
                      </a:r>
                      <a:r>
                        <a:rPr lang="en-US" sz="1200" dirty="0"/>
                        <a:t> — Prior structure simulating suicide ideation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5956679"/>
                  </a:ext>
                </a:extLst>
              </a:tr>
              <a:tr h="62916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Multi-Model Ensemble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Combines outputs of statistical, LightGBM, NN, and dynamical models; corrects individual system biases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Outputs of models #3–6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SID-SEDD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u="sng" dirty="0">
                          <a:solidFill>
                            <a:srgbClr val="0563C1"/>
                          </a:solidFill>
                          <a:hlinkClick r:id="rId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Reich et al.</a:t>
                      </a:r>
                      <a:r>
                        <a:rPr lang="en-US" sz="1200" dirty="0"/>
                        <a:t> — Accuracy of real-time multi-model ensemble forecasts for seasonal influenza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0177278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F11C0C5-CDD6-FBE8-6B60-EE0191B4DAFC}"/>
              </a:ext>
            </a:extLst>
          </p:cNvPr>
          <p:cNvSpPr txBox="1"/>
          <p:nvPr/>
        </p:nvSpPr>
        <p:spPr>
          <a:xfrm>
            <a:off x="469556" y="6427022"/>
            <a:ext cx="21749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92D050"/>
                </a:solidFill>
              </a:rPr>
              <a:t>Available in </a:t>
            </a:r>
            <a:r>
              <a:rPr lang="en-US" sz="1400" b="1" dirty="0">
                <a:solidFill>
                  <a:srgbClr val="92D050"/>
                </a:solidFill>
                <a:hlinkClick r:id="rId10"/>
              </a:rPr>
              <a:t>Darts</a:t>
            </a:r>
            <a:r>
              <a:rPr lang="en-US" sz="1400" b="1" dirty="0">
                <a:solidFill>
                  <a:srgbClr val="92D050"/>
                </a:solidFill>
              </a:rPr>
              <a:t>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E6D564-AC1C-6D7F-5693-26B48476D84F}"/>
              </a:ext>
            </a:extLst>
          </p:cNvPr>
          <p:cNvSpPr txBox="1"/>
          <p:nvPr/>
        </p:nvSpPr>
        <p:spPr>
          <a:xfrm>
            <a:off x="2644510" y="6427022"/>
            <a:ext cx="19658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Available in </a:t>
            </a:r>
            <a:r>
              <a:rPr lang="en-US" sz="1400" b="1" dirty="0">
                <a:solidFill>
                  <a:schemeClr val="accent2">
                    <a:lumMod val="60000"/>
                    <a:lumOff val="40000"/>
                  </a:schemeClr>
                </a:solidFill>
                <a:hlinkClick r:id="rId11"/>
              </a:rPr>
              <a:t>Forecast</a:t>
            </a:r>
            <a:r>
              <a:rPr lang="en-US" sz="1400" b="1" dirty="0">
                <a:solidFill>
                  <a:srgbClr val="7030A0"/>
                </a:solidFill>
              </a:rPr>
              <a:t> (R)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CCBF9E-BA1B-3D44-AC56-51C3FB0BD284}"/>
              </a:ext>
            </a:extLst>
          </p:cNvPr>
          <p:cNvSpPr txBox="1"/>
          <p:nvPr/>
        </p:nvSpPr>
        <p:spPr>
          <a:xfrm>
            <a:off x="4542721" y="6427022"/>
            <a:ext cx="22497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Available in</a:t>
            </a:r>
            <a:r>
              <a:rPr lang="en-US" sz="1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400" b="1" dirty="0">
                <a:solidFill>
                  <a:schemeClr val="accent2">
                    <a:lumMod val="60000"/>
                    <a:lumOff val="40000"/>
                  </a:schemeClr>
                </a:solidFill>
                <a:hlinkClick r:id="rId12"/>
              </a:rPr>
              <a:t>CARBayesST</a:t>
            </a:r>
            <a:r>
              <a:rPr lang="en-US" sz="1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(R)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u="sng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2 </a:t>
            </a: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Mechanistic Classification: Natural Language Processing</a:t>
            </a:r>
            <a:endParaRPr lang="en-US" sz="2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3757671"/>
              </p:ext>
            </p:extLst>
          </p:nvPr>
        </p:nvGraphicFramePr>
        <p:xfrm>
          <a:off x="201168" y="693214"/>
          <a:ext cx="11276275" cy="2717251"/>
        </p:xfrm>
        <a:graphic>
          <a:graphicData uri="http://schemas.openxmlformats.org/drawingml/2006/table">
            <a:tbl>
              <a:tblPr/>
              <a:tblGrid>
                <a:gridCol w="2589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46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Analysis / Model Type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Datasets Required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Citations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56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NLP: </a:t>
                      </a:r>
                      <a:r>
                        <a:rPr lang="en-US" sz="14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Topic Modeling &amp; Supervised Text Classifiers - </a:t>
                      </a:r>
                      <a:r>
                        <a:rPr lang="en-US" sz="1400" b="1" kern="1200" dirty="0" err="1">
                          <a:solidFill>
                            <a:srgbClr val="C00000"/>
                          </a:solidFill>
                          <a:latin typeface="+mn-lt"/>
                          <a:ea typeface="+mn-ea"/>
                          <a:cs typeface="+mn-cs"/>
                        </a:rPr>
                        <a:t>BioBERT</a:t>
                      </a:r>
                      <a:endParaRPr lang="en-US" sz="1400" b="1" kern="1200" dirty="0">
                        <a:solidFill>
                          <a:srgbClr val="C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4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Extracts social isolation,</a:t>
                      </a:r>
                      <a:r>
                        <a:rPr lang="en-US" sz="1400" b="0" dirty="0"/>
                        <a:t> </a:t>
                      </a:r>
                      <a:r>
                        <a:rPr lang="en-US" sz="1400" dirty="0"/>
                        <a:t>precipitating events, contagion markers from death narratives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NVDRS-RAD narrative text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NVDRS-RAD circumstances data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Walker et al.</a:t>
                      </a:r>
                      <a:r>
                        <a:rPr lang="en-US" sz="1400" dirty="0"/>
                        <a:t> — Identifying social isolation themes in NVDRS text via topic modeling– </a:t>
                      </a:r>
                      <a:r>
                        <a:rPr lang="en-US" sz="1400" b="1" dirty="0" err="1">
                          <a:solidFill>
                            <a:srgbClr val="C00000"/>
                          </a:solidFill>
                        </a:rPr>
                        <a:t>BERTopic</a:t>
                      </a:r>
                      <a:r>
                        <a:rPr lang="en-US" sz="1400" dirty="0"/>
                        <a:t> </a:t>
                      </a:r>
                      <a:r>
                        <a:rPr lang="en-US" sz="1400" dirty="0">
                          <a:hlinkClick r:id="rId4"/>
                        </a:rPr>
                        <a:t>https://maartengr.github.io/BERTopic/index.html</a:t>
                      </a:r>
                      <a:r>
                        <a:rPr lang="en-US" sz="1400" dirty="0"/>
                        <a:t> 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Wang et al. (2024)</a:t>
                      </a:r>
                      <a:r>
                        <a:rPr lang="en-US" sz="1400" dirty="0"/>
                        <a:t> — Detecting inconsistencies in death investigation notes- -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1400" b="1" dirty="0" err="1">
                          <a:solidFill>
                            <a:srgbClr val="C00000"/>
                          </a:solidFill>
                        </a:rPr>
                        <a:t>bioBERT</a:t>
                      </a:r>
                      <a:r>
                        <a:rPr lang="en-US" sz="1400" dirty="0"/>
                        <a:t>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Wang et al. (2023)</a:t>
                      </a:r>
                      <a:r>
                        <a:rPr lang="en-US" sz="1400" dirty="0"/>
                        <a:t> — NLP to identify SDoH-related circumstances from death narratives </a:t>
                      </a:r>
                      <a:r>
                        <a:rPr lang="en-US" sz="1400" dirty="0">
                          <a:hlinkClick r:id="rId7"/>
                        </a:rPr>
                        <a:t>https://github.com/bionlplab/suicide_sdoh</a:t>
                      </a:r>
                      <a:r>
                        <a:rPr lang="en-US" sz="1400" dirty="0"/>
                        <a:t> 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627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C00000"/>
                          </a:solidFill>
                        </a:rPr>
                        <a:t>distilBERT</a:t>
                      </a:r>
                      <a:r>
                        <a:rPr lang="en-US" sz="1400" b="1" dirty="0"/>
                        <a:t> </a:t>
                      </a:r>
                      <a:r>
                        <a:rPr lang="en-US" sz="1400" dirty="0"/>
                        <a:t>Transformer-based NLP; replicates annotations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NVDRS-RAD narrative text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NVDRS-RAD circumstances data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Parker</a:t>
                      </a:r>
                      <a:r>
                        <a:rPr lang="en-US" sz="1400" dirty="0"/>
                        <a:t> — Supervised NLP classification of violent death narratives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Ranjit et al.</a:t>
                      </a:r>
                      <a:r>
                        <a:rPr lang="en-US" sz="1400" dirty="0"/>
                        <a:t> — LLM-assisted intervention opportunity identification for suicide prevention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F5EE362-68ED-3940-8F05-8D9303056209}"/>
              </a:ext>
            </a:extLst>
          </p:cNvPr>
          <p:cNvSpPr txBox="1"/>
          <p:nvPr/>
        </p:nvSpPr>
        <p:spPr>
          <a:xfrm>
            <a:off x="469556" y="6427022"/>
            <a:ext cx="4080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Available in </a:t>
            </a:r>
            <a:r>
              <a:rPr lang="en-US" sz="1400" b="1" dirty="0">
                <a:solidFill>
                  <a:srgbClr val="C00000"/>
                </a:solidFill>
                <a:hlinkClick r:id="rId10"/>
              </a:rPr>
              <a:t>Hugging Face – Transformers</a:t>
            </a:r>
            <a:r>
              <a:rPr lang="en-US" sz="1400" b="1" dirty="0">
                <a:solidFill>
                  <a:srgbClr val="C00000"/>
                </a:solidFill>
              </a:rPr>
              <a:t> (python)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u="sng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2 </a:t>
            </a: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Mechanistic Classification: ML Ensemble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3507245"/>
              </p:ext>
            </p:extLst>
          </p:nvPr>
        </p:nvGraphicFramePr>
        <p:xfrm>
          <a:off x="201168" y="713232"/>
          <a:ext cx="11223266" cy="5895162"/>
        </p:xfrm>
        <a:graphic>
          <a:graphicData uri="http://schemas.openxmlformats.org/drawingml/2006/table">
            <a:tbl>
              <a:tblPr/>
              <a:tblGrid>
                <a:gridCol w="28600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767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308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Analysis / Model Type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Datasets Required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Citations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9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Random Forest (RF)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Breiman's bootstrap aggregation; hyperparameter selection; classifies cluster mechanism types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NVDRS-RAD (circumstances + NLP-extracted features)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Sanderson et al.</a:t>
                      </a:r>
                      <a:r>
                        <a:rPr lang="en-US" sz="1400" dirty="0"/>
                        <a:t> — Predicting suicide death following ED visit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Tran et al.</a:t>
                      </a:r>
                      <a:r>
                        <a:rPr lang="en-US" sz="1400" dirty="0"/>
                        <a:t> — Risk stratification from electronic medical records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Bernert et al.</a:t>
                      </a:r>
                      <a:r>
                        <a:rPr lang="en-US" sz="1400" dirty="0"/>
                        <a:t> — AI and suicide prevention: systematic review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Burke et al.</a:t>
                      </a:r>
                      <a:r>
                        <a:rPr lang="en-US" sz="1400" dirty="0"/>
                        <a:t> — ML in study of suicidal thoughts and behaviors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Somé et al.</a:t>
                      </a:r>
                      <a:r>
                        <a:rPr lang="en-US" sz="1400" dirty="0"/>
                        <a:t> — ML on administrative data to predict suicidal thoughts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Ehtemam et al.</a:t>
                      </a:r>
                      <a:r>
                        <a:rPr lang="en-US" sz="1400" dirty="0"/>
                        <a:t> — ML algorithms in suicide risk prediction: systematic review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Breiman</a:t>
                      </a:r>
                      <a:r>
                        <a:rPr lang="en-US" sz="1400" dirty="0"/>
                        <a:t> — Breiman's original random forests paper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323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92D050"/>
                          </a:solidFill>
                        </a:rPr>
                        <a:t>XGBoost</a:t>
                      </a:r>
                      <a:endParaRPr lang="en-US" sz="1400" dirty="0">
                        <a:solidFill>
                          <a:srgbClr val="92D050"/>
                        </a:solidFill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Gradient tree boosting; scalable; classifies cluster mechanisms;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NVDRS-RAD (circumstances + NLP-extracted features)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Bernert et al.</a:t>
                      </a:r>
                      <a:r>
                        <a:rPr lang="en-US" sz="1400" dirty="0"/>
                        <a:t> — AI and suicide prevention: systematic review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Burke et al.</a:t>
                      </a:r>
                      <a:r>
                        <a:rPr lang="en-US" sz="1400" dirty="0"/>
                        <a:t> — ML in study of suicidal thoughts and behaviors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Somé et al.</a:t>
                      </a:r>
                      <a:r>
                        <a:rPr lang="en-US" sz="1400" dirty="0"/>
                        <a:t> — ML on administrative data to predict suicidal thoughts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Ehtemam et al.</a:t>
                      </a:r>
                      <a:r>
                        <a:rPr lang="en-US" sz="1400" dirty="0"/>
                        <a:t> — ML algorithms in suicide risk prediction: systematic review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1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Chen &amp; Guestrin</a:t>
                      </a:r>
                      <a:r>
                        <a:rPr lang="en-US" sz="1400" dirty="0"/>
                        <a:t> — XGBoost: scalable tree boosting system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323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CatBoost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Categorical gradient boosting; handles mixed-type features;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NVDRS-RAD (circumstances + NLP-extracted features)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Somé et al.</a:t>
                      </a:r>
                      <a:r>
                        <a:rPr lang="en-US" sz="1400" dirty="0"/>
                        <a:t> — ML on administrative data to predict suicidal thoughts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Ehtemam et al.</a:t>
                      </a:r>
                      <a:r>
                        <a:rPr lang="en-US" sz="1400" dirty="0"/>
                        <a:t> — ML algorithms in suicide risk prediction: systematic review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11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Prokhorenkova et al.</a:t>
                      </a:r>
                      <a:r>
                        <a:rPr lang="en-US" sz="1400" dirty="0"/>
                        <a:t> — CatBoost original paper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3022525"/>
                  </a:ext>
                </a:extLst>
              </a:tr>
              <a:tr h="76323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Weighted Ensemble (RF, XGBoost, CatBoost)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Final classifier; optimizes accuracy + interpretability; (</a:t>
                      </a:r>
                      <a:r>
                        <a:rPr lang="en-US" sz="1400" dirty="0" err="1"/>
                        <a:t>eg.</a:t>
                      </a:r>
                      <a:r>
                        <a:rPr lang="en-US" sz="1400" dirty="0"/>
                        <a:t> train 2000–2015, test 2016–2023)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NVDRS-RAD (circumstances + NLP features)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Somé et al.</a:t>
                      </a:r>
                      <a:r>
                        <a:rPr lang="en-US" sz="1400" dirty="0"/>
                        <a:t> — ML on administrative data to predict suicidal thoughts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Ehtemam et al.</a:t>
                      </a:r>
                      <a:r>
                        <a:rPr lang="en-US" sz="1400" dirty="0"/>
                        <a:t> — ML algorithms in suicide risk prediction: systematic review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1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Chen &amp; Guestrin</a:t>
                      </a:r>
                      <a:r>
                        <a:rPr lang="en-US" sz="1400" dirty="0"/>
                        <a:t> — XGBoost: scalable tree boosting system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0369262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u="sng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2 </a:t>
            </a: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Model Interpretability</a:t>
            </a:r>
            <a:endParaRPr lang="en-US" sz="2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6944139"/>
              </p:ext>
            </p:extLst>
          </p:nvPr>
        </p:nvGraphicFramePr>
        <p:xfrm>
          <a:off x="201168" y="713232"/>
          <a:ext cx="11276275" cy="2490875"/>
        </p:xfrm>
        <a:graphic>
          <a:graphicData uri="http://schemas.openxmlformats.org/drawingml/2006/table">
            <a:tbl>
              <a:tblPr/>
              <a:tblGrid>
                <a:gridCol w="2589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77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Analysis / Model Type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Datasets Required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Citations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SHAP Values &amp; Gini Importance (</a:t>
                      </a:r>
                      <a:r>
                        <a:rPr lang="en-US" sz="1400" dirty="0"/>
                        <a:t>Mean Decrease in Impurity (MDI) for RF</a:t>
                      </a:r>
                      <a:r>
                        <a:rPr lang="en-US" sz="1400" b="1" dirty="0"/>
                        <a:t>)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Post-hoc feature attribution for tree-based models; identifies predictors differentiating contagion-driven vs. structural clusters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Applied to trained RF, XGBoost, CatBoost models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All predictors from NVDRS-RAD + contextual set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Akhtar et al.</a:t>
                      </a:r>
                      <a:r>
                        <a:rPr lang="en-US" sz="1400" dirty="0"/>
                        <a:t> — Interpretable ensemble ML for predicting inmate suicidal behavior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B37A17B-2B97-E23C-2AAA-7FB3D80708C7}"/>
              </a:ext>
            </a:extLst>
          </p:cNvPr>
          <p:cNvSpPr txBox="1"/>
          <p:nvPr/>
        </p:nvSpPr>
        <p:spPr>
          <a:xfrm>
            <a:off x="1031132" y="1655354"/>
            <a:ext cx="10223770" cy="3323987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.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├── config/          # Model configs, hyperparameters, YAML files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├── data/ 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│   └── raw          # All data — this is gitignored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├── docs/            # Project documentation and data access instructions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├── notebooks/       # Exploratory and communicative work  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├── src/             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│   ├── dynamical/   # </a:t>
            </a:r>
            <a:r>
              <a:rPr lang="en-US" sz="1400" dirty="0">
                <a:solidFill>
                  <a:schemeClr val="accent2"/>
                </a:solidFill>
                <a:latin typeface="Andale Mono" panose="020B0509000000000004" pitchFamily="49" charset="0"/>
              </a:rPr>
              <a:t>Dynamic model of suicide contagion</a:t>
            </a:r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       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│   ├── ensemble/    # Multi-model combination logic; weighted averaging; scoring rules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│   ├── ml/          # </a:t>
            </a:r>
            <a:r>
              <a:rPr lang="en-US" sz="1400" dirty="0">
                <a:solidFill>
                  <a:srgbClr val="FFFF00"/>
                </a:solidFill>
                <a:latin typeface="Andale Mono" panose="020B0509000000000004" pitchFamily="49" charset="0"/>
              </a:rPr>
              <a:t>LightGBM</a:t>
            </a:r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, </a:t>
            </a:r>
            <a:r>
              <a:rPr lang="en-US" sz="1400" dirty="0">
                <a:solidFill>
                  <a:srgbClr val="FFFF00"/>
                </a:solidFill>
                <a:latin typeface="Andale Mono" panose="020B0509000000000004" pitchFamily="49" charset="0"/>
              </a:rPr>
              <a:t>RF</a:t>
            </a:r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, </a:t>
            </a:r>
            <a:r>
              <a:rPr lang="en-US" sz="1400" dirty="0">
                <a:solidFill>
                  <a:srgbClr val="FFFF00"/>
                </a:solidFill>
                <a:latin typeface="Andale Mono" panose="020B0509000000000004" pitchFamily="49" charset="0"/>
              </a:rPr>
              <a:t>XGBoost</a:t>
            </a:r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, </a:t>
            </a:r>
            <a:r>
              <a:rPr lang="en-US" sz="1400" dirty="0">
                <a:solidFill>
                  <a:srgbClr val="FFFF00"/>
                </a:solidFill>
                <a:latin typeface="Andale Mono" panose="020B0509000000000004" pitchFamily="49" charset="0"/>
              </a:rPr>
              <a:t>CatBoost</a:t>
            </a:r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, NN training and evaluation      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│   ├── nlp/         # </a:t>
            </a:r>
            <a:r>
              <a:rPr lang="en-US" sz="1400" dirty="0">
                <a:solidFill>
                  <a:srgbClr val="FFFF00"/>
                </a:solidFill>
                <a:latin typeface="Andale Mono" panose="020B0509000000000004" pitchFamily="49" charset="0"/>
              </a:rPr>
              <a:t>distilBERT</a:t>
            </a:r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 pipelines; NVDRS-RAD narrative processing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│   └── statistical/ # Bayesian hierarchical models: </a:t>
            </a:r>
            <a:r>
              <a:rPr lang="en-US" sz="1400">
                <a:solidFill>
                  <a:srgbClr val="FFFF00"/>
                </a:solidFill>
                <a:latin typeface="Andale Mono" panose="020B0509000000000004" pitchFamily="49" charset="0"/>
              </a:rPr>
              <a:t>Exponential Smoothing</a:t>
            </a:r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; </a:t>
            </a:r>
            <a:r>
              <a:rPr lang="en-US" sz="1400" dirty="0">
                <a:solidFill>
                  <a:schemeClr val="accent1">
                    <a:lumMod val="60000"/>
                    <a:lumOff val="40000"/>
                  </a:schemeClr>
                </a:solidFill>
                <a:latin typeface="Andale Mono" panose="020B0509000000000004" pitchFamily="49" charset="0"/>
              </a:rPr>
              <a:t>ARIMA</a:t>
            </a:r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; </a:t>
            </a:r>
            <a:r>
              <a:rPr lang="en-US" sz="1400" dirty="0">
                <a:solidFill>
                  <a:schemeClr val="accent1">
                    <a:lumMod val="60000"/>
                    <a:lumOff val="40000"/>
                  </a:schemeClr>
                </a:solidFill>
                <a:latin typeface="Andale Mono" panose="020B0509000000000004" pitchFamily="49" charset="0"/>
              </a:rPr>
              <a:t>CAR-ANOVA</a:t>
            </a:r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   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└── test/ </a:t>
            </a:r>
          </a:p>
          <a:p>
            <a:endParaRPr lang="en-US" sz="1400" dirty="0">
              <a:solidFill>
                <a:schemeClr val="bg1"/>
              </a:solidFill>
              <a:latin typeface="Andale Mono" panose="020B0509000000000004" pitchFamily="49" charset="0"/>
            </a:endParaRPr>
          </a:p>
          <a:p>
            <a:endParaRPr lang="en-US" sz="1400" dirty="0">
              <a:solidFill>
                <a:schemeClr val="bg1"/>
              </a:solidFill>
              <a:latin typeface="Andale Mono" panose="020B0509000000000004" pitchFamily="49" charset="0"/>
            </a:endParaRPr>
          </a:p>
        </p:txBody>
      </p:sp>
      <p:sp>
        <p:nvSpPr>
          <p:cNvPr id="7" name="Text 0">
            <a:extLst>
              <a:ext uri="{FF2B5EF4-FFF2-40B4-BE49-F238E27FC236}">
                <a16:creationId xmlns:a16="http://schemas.microsoft.com/office/drawing/2014/main" id="{6FF3A345-E3F3-3CD0-B38A-E1DAFC222F81}"/>
              </a:ext>
            </a:extLst>
          </p:cNvPr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/>
              </a:rPr>
              <a:t>https://github.com/MatteoPS/suicide_forecasting/</a:t>
            </a: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Repo structure</a:t>
            </a:r>
            <a:endParaRPr lang="en-US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786B01-9FA1-5905-6DD6-E8F801D29848}"/>
              </a:ext>
            </a:extLst>
          </p:cNvPr>
          <p:cNvSpPr txBox="1"/>
          <p:nvPr/>
        </p:nvSpPr>
        <p:spPr>
          <a:xfrm>
            <a:off x="1031132" y="4610009"/>
            <a:ext cx="21103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MATLAB</a:t>
            </a:r>
            <a:r>
              <a:rPr lang="en-US" dirty="0"/>
              <a:t> </a:t>
            </a:r>
            <a:r>
              <a:rPr lang="en-US" dirty="0">
                <a:solidFill>
                  <a:schemeClr val="bg1"/>
                </a:solidFill>
              </a:rPr>
              <a:t>- </a:t>
            </a:r>
            <a:r>
              <a:rPr lang="en-US" dirty="0">
                <a:solidFill>
                  <a:srgbClr val="FFFF00"/>
                </a:solidFill>
              </a:rPr>
              <a:t>Python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-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R</a:t>
            </a:r>
          </a:p>
        </p:txBody>
      </p:sp>
    </p:spTree>
    <p:extLst>
      <p:ext uri="{BB962C8B-B14F-4D97-AF65-F5344CB8AC3E}">
        <p14:creationId xmlns:p14="http://schemas.microsoft.com/office/powerpoint/2010/main" val="33102976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998661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422</TotalTime>
  <Words>1713</Words>
  <Application>Microsoft Macintosh PowerPoint</Application>
  <PresentationFormat>Widescreen</PresentationFormat>
  <Paragraphs>244</Paragraphs>
  <Slides>10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Andale Mono</vt:lpstr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Analytical Models &amp; Data Sources</dc:title>
  <dc:subject>PptxGenJS Presentation</dc:subject>
  <dc:creator>PptxGenJS</dc:creator>
  <cp:lastModifiedBy>Matteo Perini</cp:lastModifiedBy>
  <cp:revision>17</cp:revision>
  <dcterms:created xsi:type="dcterms:W3CDTF">2026-06-08T19:27:39Z</dcterms:created>
  <dcterms:modified xsi:type="dcterms:W3CDTF">2026-06-09T18:50:57Z</dcterms:modified>
</cp:coreProperties>
</file>